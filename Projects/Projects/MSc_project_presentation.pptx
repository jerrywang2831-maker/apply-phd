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7" r:id="rId3"/>
    <p:sldId id="265" r:id="rId4"/>
    <p:sldId id="263" r:id="rId5"/>
    <p:sldId id="257" r:id="rId6"/>
    <p:sldId id="273" r:id="rId7"/>
    <p:sldId id="274" r:id="rId8"/>
    <p:sldId id="264" r:id="rId9"/>
    <p:sldId id="276" r:id="rId10"/>
    <p:sldId id="281" r:id="rId11"/>
    <p:sldId id="279" r:id="rId12"/>
    <p:sldId id="280" r:id="rId13"/>
    <p:sldId id="262" r:id="rId14"/>
    <p:sldId id="283" r:id="rId15"/>
    <p:sldId id="266" r:id="rId16"/>
    <p:sldId id="282" r:id="rId17"/>
    <p:sldId id="261" r:id="rId18"/>
    <p:sldId id="270" r:id="rId19"/>
    <p:sldId id="278"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445156-DC81-481A-AD91-41EDDCB36EE4}" v="174" dt="2023-09-22T08:26:49.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0049" autoAdjust="0"/>
  </p:normalViewPr>
  <p:slideViewPr>
    <p:cSldViewPr snapToGrid="0">
      <p:cViewPr>
        <p:scale>
          <a:sx n="66" d="100"/>
          <a:sy n="66" d="100"/>
        </p:scale>
        <p:origin x="668"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qi Wang" userId="b40da3f6af871e39" providerId="LiveId" clId="{6D445156-DC81-481A-AD91-41EDDCB36EE4}"/>
    <pc:docChg chg="undo redo custSel delSld modSld sldOrd">
      <pc:chgData name="Chuqi Wang" userId="b40da3f6af871e39" providerId="LiveId" clId="{6D445156-DC81-481A-AD91-41EDDCB36EE4}" dt="2023-09-22T08:26:49.336" v="4090" actId="20577"/>
      <pc:docMkLst>
        <pc:docMk/>
      </pc:docMkLst>
      <pc:sldChg chg="modSp mod modNotesTx">
        <pc:chgData name="Chuqi Wang" userId="b40da3f6af871e39" providerId="LiveId" clId="{6D445156-DC81-481A-AD91-41EDDCB36EE4}" dt="2023-09-06T08:49:43.249" v="2881" actId="20577"/>
        <pc:sldMkLst>
          <pc:docMk/>
          <pc:sldMk cId="1553896228" sldId="256"/>
        </pc:sldMkLst>
        <pc:spChg chg="mod">
          <ac:chgData name="Chuqi Wang" userId="b40da3f6af871e39" providerId="LiveId" clId="{6D445156-DC81-481A-AD91-41EDDCB36EE4}" dt="2023-09-06T08:49:43.249" v="2881" actId="20577"/>
          <ac:spMkLst>
            <pc:docMk/>
            <pc:sldMk cId="1553896228" sldId="256"/>
            <ac:spMk id="3" creationId="{54849FA5-CE61-0DB7-E3F2-18D2DA1791A4}"/>
          </ac:spMkLst>
        </pc:spChg>
      </pc:sldChg>
      <pc:sldChg chg="addSp delSp modSp mod modAnim modNotesTx">
        <pc:chgData name="Chuqi Wang" userId="b40da3f6af871e39" providerId="LiveId" clId="{6D445156-DC81-481A-AD91-41EDDCB36EE4}" dt="2023-09-06T09:33:21.075" v="3678" actId="20577"/>
        <pc:sldMkLst>
          <pc:docMk/>
          <pc:sldMk cId="901007778" sldId="257"/>
        </pc:sldMkLst>
        <pc:spChg chg="mod">
          <ac:chgData name="Chuqi Wang" userId="b40da3f6af871e39" providerId="LiveId" clId="{6D445156-DC81-481A-AD91-41EDDCB36EE4}" dt="2023-09-06T08:28:10.220" v="1952" actId="20577"/>
          <ac:spMkLst>
            <pc:docMk/>
            <pc:sldMk cId="901007778" sldId="257"/>
            <ac:spMk id="3" creationId="{53A6BEB9-7B63-31DE-1311-8793AC8C70A9}"/>
          </ac:spMkLst>
        </pc:spChg>
        <pc:spChg chg="add del">
          <ac:chgData name="Chuqi Wang" userId="b40da3f6af871e39" providerId="LiveId" clId="{6D445156-DC81-481A-AD91-41EDDCB36EE4}" dt="2023-09-06T08:16:25.673" v="1444" actId="11529"/>
          <ac:spMkLst>
            <pc:docMk/>
            <pc:sldMk cId="901007778" sldId="257"/>
            <ac:spMk id="4" creationId="{EBD4C190-1469-1C14-42EE-83F665BBEBDF}"/>
          </ac:spMkLst>
        </pc:spChg>
        <pc:spChg chg="add mod">
          <ac:chgData name="Chuqi Wang" userId="b40da3f6af871e39" providerId="LiveId" clId="{6D445156-DC81-481A-AD91-41EDDCB36EE4}" dt="2023-09-06T08:16:38.609" v="1447" actId="208"/>
          <ac:spMkLst>
            <pc:docMk/>
            <pc:sldMk cId="901007778" sldId="257"/>
            <ac:spMk id="5" creationId="{5E80847A-08A8-FAFC-AF19-9987025B26F7}"/>
          </ac:spMkLst>
        </pc:spChg>
        <pc:spChg chg="add mod">
          <ac:chgData name="Chuqi Wang" userId="b40da3f6af871e39" providerId="LiveId" clId="{6D445156-DC81-481A-AD91-41EDDCB36EE4}" dt="2023-09-06T08:16:47.538" v="1449" actId="1076"/>
          <ac:spMkLst>
            <pc:docMk/>
            <pc:sldMk cId="901007778" sldId="257"/>
            <ac:spMk id="6" creationId="{FDAF1BFC-E45E-1F08-0ADA-C70F21520D5A}"/>
          </ac:spMkLst>
        </pc:spChg>
      </pc:sldChg>
      <pc:sldChg chg="del">
        <pc:chgData name="Chuqi Wang" userId="b40da3f6af871e39" providerId="LiveId" clId="{6D445156-DC81-481A-AD91-41EDDCB36EE4}" dt="2023-09-06T07:06:20.709" v="2" actId="2696"/>
        <pc:sldMkLst>
          <pc:docMk/>
          <pc:sldMk cId="3624639436" sldId="258"/>
        </pc:sldMkLst>
      </pc:sldChg>
      <pc:sldChg chg="del">
        <pc:chgData name="Chuqi Wang" userId="b40da3f6af871e39" providerId="LiveId" clId="{6D445156-DC81-481A-AD91-41EDDCB36EE4}" dt="2023-09-06T07:06:23.628" v="3" actId="2696"/>
        <pc:sldMkLst>
          <pc:docMk/>
          <pc:sldMk cId="538185932" sldId="259"/>
        </pc:sldMkLst>
      </pc:sldChg>
      <pc:sldChg chg="del">
        <pc:chgData name="Chuqi Wang" userId="b40da3f6af871e39" providerId="LiveId" clId="{6D445156-DC81-481A-AD91-41EDDCB36EE4}" dt="2023-09-06T07:06:32.056" v="5" actId="2696"/>
        <pc:sldMkLst>
          <pc:docMk/>
          <pc:sldMk cId="3613524949" sldId="260"/>
        </pc:sldMkLst>
      </pc:sldChg>
      <pc:sldChg chg="modSp mod modNotesTx">
        <pc:chgData name="Chuqi Wang" userId="b40da3f6af871e39" providerId="LiveId" clId="{6D445156-DC81-481A-AD91-41EDDCB36EE4}" dt="2023-09-06T09:05:49.918" v="3139" actId="20577"/>
        <pc:sldMkLst>
          <pc:docMk/>
          <pc:sldMk cId="2166226450" sldId="261"/>
        </pc:sldMkLst>
        <pc:spChg chg="mod">
          <ac:chgData name="Chuqi Wang" userId="b40da3f6af871e39" providerId="LiveId" clId="{6D445156-DC81-481A-AD91-41EDDCB36EE4}" dt="2023-09-06T09:05:49.918" v="3139" actId="20577"/>
          <ac:spMkLst>
            <pc:docMk/>
            <pc:sldMk cId="2166226450" sldId="261"/>
            <ac:spMk id="3" creationId="{AC5F8B55-E042-4D15-7FFC-221ECA23BBBE}"/>
          </ac:spMkLst>
        </pc:spChg>
      </pc:sldChg>
      <pc:sldChg chg="addSp modSp mod modNotesTx">
        <pc:chgData name="Chuqi Wang" userId="b40da3f6af871e39" providerId="LiveId" clId="{6D445156-DC81-481A-AD91-41EDDCB36EE4}" dt="2023-09-22T07:52:17.164" v="3990" actId="1076"/>
        <pc:sldMkLst>
          <pc:docMk/>
          <pc:sldMk cId="1219688449" sldId="262"/>
        </pc:sldMkLst>
        <pc:spChg chg="add mod">
          <ac:chgData name="Chuqi Wang" userId="b40da3f6af871e39" providerId="LiveId" clId="{6D445156-DC81-481A-AD91-41EDDCB36EE4}" dt="2023-09-06T07:07:21.980" v="75" actId="1076"/>
          <ac:spMkLst>
            <pc:docMk/>
            <pc:sldMk cId="1219688449" sldId="262"/>
            <ac:spMk id="18" creationId="{2CFF1D30-F785-70EF-6CB7-6E29868E49AB}"/>
          </ac:spMkLst>
        </pc:spChg>
        <pc:spChg chg="add mod">
          <ac:chgData name="Chuqi Wang" userId="b40da3f6af871e39" providerId="LiveId" clId="{6D445156-DC81-481A-AD91-41EDDCB36EE4}" dt="2023-09-06T07:09:21.502" v="190" actId="207"/>
          <ac:spMkLst>
            <pc:docMk/>
            <pc:sldMk cId="1219688449" sldId="262"/>
            <ac:spMk id="22" creationId="{AC1FB2F8-1E17-D8CF-761C-45FD4D7C7F49}"/>
          </ac:spMkLst>
        </pc:spChg>
        <pc:picChg chg="mod">
          <ac:chgData name="Chuqi Wang" userId="b40da3f6af871e39" providerId="LiveId" clId="{6D445156-DC81-481A-AD91-41EDDCB36EE4}" dt="2023-09-22T07:52:17.164" v="3990" actId="1076"/>
          <ac:picMkLst>
            <pc:docMk/>
            <pc:sldMk cId="1219688449" sldId="262"/>
            <ac:picMk id="9" creationId="{B4849412-CC16-6752-1E3C-B20156B4DDA3}"/>
          </ac:picMkLst>
        </pc:picChg>
        <pc:cxnChg chg="add mod">
          <ac:chgData name="Chuqi Wang" userId="b40da3f6af871e39" providerId="LiveId" clId="{6D445156-DC81-481A-AD91-41EDDCB36EE4}" dt="2023-09-06T07:07:41.439" v="80" actId="14100"/>
          <ac:cxnSpMkLst>
            <pc:docMk/>
            <pc:sldMk cId="1219688449" sldId="262"/>
            <ac:cxnSpMk id="19" creationId="{690369DD-A957-CFBF-651F-488B3FFD8FAC}"/>
          </ac:cxnSpMkLst>
        </pc:cxnChg>
      </pc:sldChg>
      <pc:sldChg chg="modSp modNotesTx">
        <pc:chgData name="Chuqi Wang" userId="b40da3f6af871e39" providerId="LiveId" clId="{6D445156-DC81-481A-AD91-41EDDCB36EE4}" dt="2023-09-06T09:15:35.630" v="3359" actId="20577"/>
        <pc:sldMkLst>
          <pc:docMk/>
          <pc:sldMk cId="457966634" sldId="263"/>
        </pc:sldMkLst>
        <pc:spChg chg="mod">
          <ac:chgData name="Chuqi Wang" userId="b40da3f6af871e39" providerId="LiveId" clId="{6D445156-DC81-481A-AD91-41EDDCB36EE4}" dt="2023-09-06T08:24:33.477" v="1777" actId="20577"/>
          <ac:spMkLst>
            <pc:docMk/>
            <pc:sldMk cId="457966634" sldId="263"/>
            <ac:spMk id="9" creationId="{16057D0D-B2CE-99E6-3615-ADA0FD4BE6B2}"/>
          </ac:spMkLst>
        </pc:spChg>
      </pc:sldChg>
      <pc:sldChg chg="ord modNotesTx">
        <pc:chgData name="Chuqi Wang" userId="b40da3f6af871e39" providerId="LiveId" clId="{6D445156-DC81-481A-AD91-41EDDCB36EE4}" dt="2023-09-06T08:42:18.548" v="2432" actId="20577"/>
        <pc:sldMkLst>
          <pc:docMk/>
          <pc:sldMk cId="140463426" sldId="264"/>
        </pc:sldMkLst>
      </pc:sldChg>
      <pc:sldChg chg="modSp mod">
        <pc:chgData name="Chuqi Wang" userId="b40da3f6af871e39" providerId="LiveId" clId="{6D445156-DC81-481A-AD91-41EDDCB36EE4}" dt="2023-09-06T08:23:25.398" v="1758" actId="20577"/>
        <pc:sldMkLst>
          <pc:docMk/>
          <pc:sldMk cId="288495882" sldId="265"/>
        </pc:sldMkLst>
        <pc:spChg chg="mod">
          <ac:chgData name="Chuqi Wang" userId="b40da3f6af871e39" providerId="LiveId" clId="{6D445156-DC81-481A-AD91-41EDDCB36EE4}" dt="2023-09-06T08:23:25.398" v="1758" actId="20577"/>
          <ac:spMkLst>
            <pc:docMk/>
            <pc:sldMk cId="288495882" sldId="265"/>
            <ac:spMk id="3" creationId="{09EACCA5-1D34-2B98-3D73-ECA5B82CD84E}"/>
          </ac:spMkLst>
        </pc:spChg>
      </pc:sldChg>
      <pc:sldChg chg="modSp mod modNotesTx">
        <pc:chgData name="Chuqi Wang" userId="b40da3f6af871e39" providerId="LiveId" clId="{6D445156-DC81-481A-AD91-41EDDCB36EE4}" dt="2023-09-06T09:37:48.459" v="3723" actId="20577"/>
        <pc:sldMkLst>
          <pc:docMk/>
          <pc:sldMk cId="2709080664" sldId="266"/>
        </pc:sldMkLst>
        <pc:spChg chg="mod">
          <ac:chgData name="Chuqi Wang" userId="b40da3f6af871e39" providerId="LiveId" clId="{6D445156-DC81-481A-AD91-41EDDCB36EE4}" dt="2023-09-06T09:23:14.965" v="3567" actId="20577"/>
          <ac:spMkLst>
            <pc:docMk/>
            <pc:sldMk cId="2709080664" sldId="266"/>
            <ac:spMk id="3" creationId="{9B29E309-2F1F-ECE6-6514-83A16A6480A2}"/>
          </ac:spMkLst>
        </pc:spChg>
      </pc:sldChg>
      <pc:sldChg chg="del">
        <pc:chgData name="Chuqi Wang" userId="b40da3f6af871e39" providerId="LiveId" clId="{6D445156-DC81-481A-AD91-41EDDCB36EE4}" dt="2023-09-06T07:06:15.697" v="1" actId="2696"/>
        <pc:sldMkLst>
          <pc:docMk/>
          <pc:sldMk cId="871026991" sldId="269"/>
        </pc:sldMkLst>
      </pc:sldChg>
      <pc:sldChg chg="modSp modAnim modNotesTx">
        <pc:chgData name="Chuqi Wang" userId="b40da3f6af871e39" providerId="LiveId" clId="{6D445156-DC81-481A-AD91-41EDDCB36EE4}" dt="2023-09-06T09:17:13.116" v="3426" actId="20577"/>
        <pc:sldMkLst>
          <pc:docMk/>
          <pc:sldMk cId="383969617" sldId="273"/>
        </pc:sldMkLst>
        <pc:spChg chg="mod">
          <ac:chgData name="Chuqi Wang" userId="b40da3f6af871e39" providerId="LiveId" clId="{6D445156-DC81-481A-AD91-41EDDCB36EE4}" dt="2023-09-06T08:30:15.091" v="1957" actId="20577"/>
          <ac:spMkLst>
            <pc:docMk/>
            <pc:sldMk cId="383969617" sldId="273"/>
            <ac:spMk id="27" creationId="{37D6C811-F6A5-EAFB-4904-781436000D92}"/>
          </ac:spMkLst>
        </pc:spChg>
      </pc:sldChg>
      <pc:sldChg chg="addSp modSp mod modAnim modShow">
        <pc:chgData name="Chuqi Wang" userId="b40da3f6af871e39" providerId="LiveId" clId="{6D445156-DC81-481A-AD91-41EDDCB36EE4}" dt="2023-09-22T08:26:49.336" v="4090" actId="20577"/>
        <pc:sldMkLst>
          <pc:docMk/>
          <pc:sldMk cId="3562015031" sldId="274"/>
        </pc:sldMkLst>
        <pc:spChg chg="mod">
          <ac:chgData name="Chuqi Wang" userId="b40da3f6af871e39" providerId="LiveId" clId="{6D445156-DC81-481A-AD91-41EDDCB36EE4}" dt="2023-09-22T08:26:49.336" v="4090" actId="20577"/>
          <ac:spMkLst>
            <pc:docMk/>
            <pc:sldMk cId="3562015031" sldId="274"/>
            <ac:spMk id="3" creationId="{81DDA725-08E9-065A-2073-541666E5EF72}"/>
          </ac:spMkLst>
        </pc:spChg>
        <pc:spChg chg="mod">
          <ac:chgData name="Chuqi Wang" userId="b40da3f6af871e39" providerId="LiveId" clId="{6D445156-DC81-481A-AD91-41EDDCB36EE4}" dt="2023-09-22T08:26:42.647" v="4086" actId="27636"/>
          <ac:spMkLst>
            <pc:docMk/>
            <pc:sldMk cId="3562015031" sldId="274"/>
            <ac:spMk id="4" creationId="{01C3D7B7-7C85-3628-475E-667A20FB0F71}"/>
          </ac:spMkLst>
        </pc:spChg>
        <pc:spChg chg="add mod">
          <ac:chgData name="Chuqi Wang" userId="b40da3f6af871e39" providerId="LiveId" clId="{6D445156-DC81-481A-AD91-41EDDCB36EE4}" dt="2023-09-06T08:31:59.549" v="2051" actId="1076"/>
          <ac:spMkLst>
            <pc:docMk/>
            <pc:sldMk cId="3562015031" sldId="274"/>
            <ac:spMk id="5" creationId="{B823B2DE-88DF-FAD9-9E26-68A2964736A4}"/>
          </ac:spMkLst>
        </pc:spChg>
        <pc:spChg chg="add mod">
          <ac:chgData name="Chuqi Wang" userId="b40da3f6af871e39" providerId="LiveId" clId="{6D445156-DC81-481A-AD91-41EDDCB36EE4}" dt="2023-09-06T08:32:14.136" v="2055" actId="14100"/>
          <ac:spMkLst>
            <pc:docMk/>
            <pc:sldMk cId="3562015031" sldId="274"/>
            <ac:spMk id="6" creationId="{0F0C448C-B2C6-F25A-1A2E-210A35D3DC31}"/>
          </ac:spMkLst>
        </pc:spChg>
      </pc:sldChg>
      <pc:sldChg chg="del">
        <pc:chgData name="Chuqi Wang" userId="b40da3f6af871e39" providerId="LiveId" clId="{6D445156-DC81-481A-AD91-41EDDCB36EE4}" dt="2023-09-06T07:06:27.629" v="4" actId="2696"/>
        <pc:sldMkLst>
          <pc:docMk/>
          <pc:sldMk cId="2446355955" sldId="275"/>
        </pc:sldMkLst>
      </pc:sldChg>
      <pc:sldChg chg="ord modNotesTx">
        <pc:chgData name="Chuqi Wang" userId="b40da3f6af871e39" providerId="LiveId" clId="{6D445156-DC81-481A-AD91-41EDDCB36EE4}" dt="2023-09-06T08:43:49.135" v="2550" actId="20577"/>
        <pc:sldMkLst>
          <pc:docMk/>
          <pc:sldMk cId="3247636674" sldId="276"/>
        </pc:sldMkLst>
      </pc:sldChg>
      <pc:sldChg chg="modSp modAnim modNotesTx">
        <pc:chgData name="Chuqi Wang" userId="b40da3f6af871e39" providerId="LiveId" clId="{6D445156-DC81-481A-AD91-41EDDCB36EE4}" dt="2023-09-06T09:10:48.623" v="3202" actId="20577"/>
        <pc:sldMkLst>
          <pc:docMk/>
          <pc:sldMk cId="2111453206" sldId="277"/>
        </pc:sldMkLst>
        <pc:spChg chg="mod">
          <ac:chgData name="Chuqi Wang" userId="b40da3f6af871e39" providerId="LiveId" clId="{6D445156-DC81-481A-AD91-41EDDCB36EE4}" dt="2023-09-06T07:34:03.893" v="1392" actId="20577"/>
          <ac:spMkLst>
            <pc:docMk/>
            <pc:sldMk cId="2111453206" sldId="277"/>
            <ac:spMk id="3" creationId="{4972701B-E157-519A-9548-FF3E44ED6ED3}"/>
          </ac:spMkLst>
        </pc:spChg>
        <pc:spChg chg="mod">
          <ac:chgData name="Chuqi Wang" userId="b40da3f6af871e39" providerId="LiveId" clId="{6D445156-DC81-481A-AD91-41EDDCB36EE4}" dt="2023-09-06T07:33:45.964" v="1386" actId="114"/>
          <ac:spMkLst>
            <pc:docMk/>
            <pc:sldMk cId="2111453206" sldId="277"/>
            <ac:spMk id="7" creationId="{F1C0DF80-4812-CA54-BB49-F75CE05BAF6B}"/>
          </ac:spMkLst>
        </pc:spChg>
      </pc:sldChg>
      <pc:sldChg chg="modNotesTx">
        <pc:chgData name="Chuqi Wang" userId="b40da3f6af871e39" providerId="LiveId" clId="{6D445156-DC81-481A-AD91-41EDDCB36EE4}" dt="2023-09-06T09:25:32.617" v="3647" actId="20577"/>
        <pc:sldMkLst>
          <pc:docMk/>
          <pc:sldMk cId="452665292" sldId="280"/>
        </pc:sldMkLst>
      </pc:sldChg>
      <pc:sldChg chg="modNotesTx">
        <pc:chgData name="Chuqi Wang" userId="b40da3f6af871e39" providerId="LiveId" clId="{6D445156-DC81-481A-AD91-41EDDCB36EE4}" dt="2023-09-06T08:40:20.899" v="2267" actId="20577"/>
        <pc:sldMkLst>
          <pc:docMk/>
          <pc:sldMk cId="4235424985" sldId="281"/>
        </pc:sldMkLst>
      </pc:sldChg>
      <pc:sldChg chg="modSp mod modNotesTx">
        <pc:chgData name="Chuqi Wang" userId="b40da3f6af871e39" providerId="LiveId" clId="{6D445156-DC81-481A-AD91-41EDDCB36EE4}" dt="2023-09-06T09:18:42.625" v="3547" actId="20577"/>
        <pc:sldMkLst>
          <pc:docMk/>
          <pc:sldMk cId="1197183431" sldId="282"/>
        </pc:sldMkLst>
        <pc:spChg chg="mod">
          <ac:chgData name="Chuqi Wang" userId="b40da3f6af871e39" providerId="LiveId" clId="{6D445156-DC81-481A-AD91-41EDDCB36EE4}" dt="2023-09-06T08:47:52.681" v="2791" actId="20577"/>
          <ac:spMkLst>
            <pc:docMk/>
            <pc:sldMk cId="1197183431" sldId="282"/>
            <ac:spMk id="3" creationId="{2560FB0D-C9BF-23A4-40C4-9EF123EFFE43}"/>
          </ac:spMkLst>
        </pc:spChg>
      </pc:sldChg>
      <pc:sldChg chg="addSp delSp modSp mod modAnim modNotesTx">
        <pc:chgData name="Chuqi Wang" userId="b40da3f6af871e39" providerId="LiveId" clId="{6D445156-DC81-481A-AD91-41EDDCB36EE4}" dt="2023-09-20T18:33:06.470" v="3988" actId="14100"/>
        <pc:sldMkLst>
          <pc:docMk/>
          <pc:sldMk cId="2658633553" sldId="283"/>
        </pc:sldMkLst>
        <pc:picChg chg="add mod">
          <ac:chgData name="Chuqi Wang" userId="b40da3f6af871e39" providerId="LiveId" clId="{6D445156-DC81-481A-AD91-41EDDCB36EE4}" dt="2023-09-20T18:33:06.470" v="3988" actId="14100"/>
          <ac:picMkLst>
            <pc:docMk/>
            <pc:sldMk cId="2658633553" sldId="283"/>
            <ac:picMk id="3" creationId="{F6209972-FB5E-6DFF-D436-9EB421538B27}"/>
          </ac:picMkLst>
        </pc:picChg>
        <pc:picChg chg="del">
          <ac:chgData name="Chuqi Wang" userId="b40da3f6af871e39" providerId="LiveId" clId="{6D445156-DC81-481A-AD91-41EDDCB36EE4}" dt="2023-09-06T07:13:18.129" v="439" actId="478"/>
          <ac:picMkLst>
            <pc:docMk/>
            <pc:sldMk cId="2658633553" sldId="283"/>
            <ac:picMk id="9" creationId="{CBC00E53-7FA7-2102-5608-434CB9EB2BDE}"/>
          </ac:picMkLst>
        </pc:picChg>
        <pc:picChg chg="add mod">
          <ac:chgData name="Chuqi Wang" userId="b40da3f6af871e39" providerId="LiveId" clId="{6D445156-DC81-481A-AD91-41EDDCB36EE4}" dt="2023-09-06T08:44:16.406" v="2551" actId="1076"/>
          <ac:picMkLst>
            <pc:docMk/>
            <pc:sldMk cId="2658633553" sldId="283"/>
            <ac:picMk id="11" creationId="{A5F06899-7059-8209-B885-666F81787EA9}"/>
          </ac:picMkLst>
        </pc:picChg>
      </pc:sldChg>
      <pc:sldChg chg="del">
        <pc:chgData name="Chuqi Wang" userId="b40da3f6af871e39" providerId="LiveId" clId="{6D445156-DC81-481A-AD91-41EDDCB36EE4}" dt="2023-09-06T07:06:06.883" v="0" actId="2696"/>
        <pc:sldMkLst>
          <pc:docMk/>
          <pc:sldMk cId="4058368317" sldId="285"/>
        </pc:sldMkLst>
      </pc:sldChg>
      <pc:sldMasterChg chg="delSldLayout">
        <pc:chgData name="Chuqi Wang" userId="b40da3f6af871e39" providerId="LiveId" clId="{6D445156-DC81-481A-AD91-41EDDCB36EE4}" dt="2023-09-06T07:06:06.883" v="0" actId="2696"/>
        <pc:sldMasterMkLst>
          <pc:docMk/>
          <pc:sldMasterMk cId="3375802906" sldId="2147483648"/>
        </pc:sldMasterMkLst>
        <pc:sldLayoutChg chg="del">
          <pc:chgData name="Chuqi Wang" userId="b40da3f6af871e39" providerId="LiveId" clId="{6D445156-DC81-481A-AD91-41EDDCB36EE4}" dt="2023-09-06T07:06:06.883" v="0" actId="2696"/>
          <pc:sldLayoutMkLst>
            <pc:docMk/>
            <pc:sldMasterMk cId="3375802906" sldId="2147483648"/>
            <pc:sldLayoutMk cId="912579693"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9D268-17C6-47AE-AE57-7B767B1A8FB5}" type="datetimeFigureOut">
              <a:rPr lang="en-GB" smtClean="0"/>
              <a:t>14/09/2023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3FB776-61CE-4239-BC8B-AAC4BE5819ED}" type="slidenum">
              <a:rPr lang="en-GB" smtClean="0"/>
              <a:t>‹#›</a:t>
            </a:fld>
            <a:endParaRPr lang="en-GB"/>
          </a:p>
        </p:txBody>
      </p:sp>
    </p:spTree>
    <p:extLst>
      <p:ext uri="{BB962C8B-B14F-4D97-AF65-F5344CB8AC3E}">
        <p14:creationId xmlns:p14="http://schemas.microsoft.com/office/powerpoint/2010/main" val="1230351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topic is … Focus on </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a:t>
            </a:fld>
            <a:endParaRPr lang="en-GB"/>
          </a:p>
        </p:txBody>
      </p:sp>
    </p:spTree>
    <p:extLst>
      <p:ext uri="{BB962C8B-B14F-4D97-AF65-F5344CB8AC3E}">
        <p14:creationId xmlns:p14="http://schemas.microsoft.com/office/powerpoint/2010/main" val="1425704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study model of the project: cerebral organoid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complexity of the brain model makes it challenge to investigate developmental disorders and biological mechanism.[1]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Relate to the temperature analysis topic, we know that the functioning brain is highly sensitive to temperature, and any </a:t>
            </a:r>
            <a:r>
              <a:rPr lang="en-US" dirty="0">
                <a:solidFill>
                  <a:schemeClr val="bg2">
                    <a:lumMod val="90000"/>
                  </a:schemeClr>
                </a:solidFill>
              </a:rPr>
              <a:t>deviation from the </a:t>
            </a:r>
            <a:r>
              <a:rPr lang="en-US" dirty="0"/>
              <a:t>optimal temperature range would have severe impacts (</a:t>
            </a:r>
            <a:r>
              <a:rPr lang="en-US" dirty="0">
                <a:solidFill>
                  <a:schemeClr val="bg2">
                    <a:lumMod val="90000"/>
                  </a:schemeClr>
                </a:solidFill>
              </a:rPr>
              <a:t>(i.e. brain metabolism, neural activity and synaptic plasticity)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2">
                  <a:lumMod val="9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2">
                    <a:lumMod val="90000"/>
                  </a:schemeClr>
                </a:solidFill>
              </a:rPr>
              <a:t>Sum up to the aim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Brain is highly temperature sensitive </a:t>
            </a:r>
            <a:r>
              <a:rPr lang="en-US" dirty="0">
                <a:solidFill>
                  <a:schemeClr val="bg2">
                    <a:lumMod val="90000"/>
                  </a:schemeClr>
                </a:solidFill>
              </a:rPr>
              <a:t>and deviation from the </a:t>
            </a:r>
            <a:r>
              <a:rPr lang="en-US" dirty="0"/>
              <a:t>optimal temperature range </a:t>
            </a:r>
            <a:r>
              <a:rPr lang="en-US" dirty="0">
                <a:solidFill>
                  <a:schemeClr val="bg2">
                    <a:lumMod val="90000"/>
                  </a:schemeClr>
                </a:solidFill>
              </a:rPr>
              <a:t>(36.5 to 37.5 in the body and a bit higher in the brain, especially deeper region) would have severe impacts (i.e. energy metabolism, neural activity and synaptic plasticity)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Brain organoid is an in vitro model, which the generated and long-term cultured by replicating the growth factor and condition of brain development. It is a good model for early brain development study as the complexity of the brain model makes it challenge to investigate developmental disorders and biological mechanism.[1]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Relate to the temperature analysis topic, we know that the functioning brain is highly sensitive to temperature, and any </a:t>
            </a:r>
            <a:r>
              <a:rPr lang="en-US" dirty="0">
                <a:solidFill>
                  <a:schemeClr val="bg2">
                    <a:lumMod val="90000"/>
                  </a:schemeClr>
                </a:solidFill>
              </a:rPr>
              <a:t>deviation from the </a:t>
            </a:r>
            <a:r>
              <a:rPr lang="en-US" dirty="0"/>
              <a:t>optimal temperature range would have severe impacts (</a:t>
            </a:r>
            <a:r>
              <a:rPr lang="en-US" dirty="0">
                <a:solidFill>
                  <a:schemeClr val="bg2">
                    <a:lumMod val="90000"/>
                  </a:schemeClr>
                </a:solidFill>
              </a:rPr>
              <a:t>(i.e. brain metabolism, neural activity and synaptic plasticity)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 that is also expected in organoid model, expecting temperature impacts and evidence of the significant of temperature control on the dynamics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2">
                  <a:lumMod val="90000"/>
                </a:schemeClr>
              </a:solidFill>
            </a:endParaRPr>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2</a:t>
            </a:fld>
            <a:endParaRPr lang="en-GB"/>
          </a:p>
        </p:txBody>
      </p:sp>
    </p:spTree>
    <p:extLst>
      <p:ext uri="{BB962C8B-B14F-4D97-AF65-F5344CB8AC3E}">
        <p14:creationId xmlns:p14="http://schemas.microsoft.com/office/powerpoint/2010/main" val="3319409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mimic the thermoregulation (homeostasis) in the brain, keep organoid in optimal temperature while imaging</a:t>
            </a:r>
          </a:p>
          <a:p>
            <a:r>
              <a:rPr lang="en-US" dirty="0"/>
              <a:t>Observe the variation of neural activity in organoids under temperature fluctuation</a:t>
            </a:r>
          </a:p>
          <a:p>
            <a:r>
              <a:rPr lang="en-US" dirty="0"/>
              <a:t>Track and compare the condition and activity in current feasible development stage, to prepare for further applications, such as the study of neurodegenerative diseases</a:t>
            </a:r>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3</a:t>
            </a:fld>
            <a:endParaRPr lang="en-GB"/>
          </a:p>
        </p:txBody>
      </p:sp>
    </p:spTree>
    <p:extLst>
      <p:ext uri="{BB962C8B-B14F-4D97-AF65-F5344CB8AC3E}">
        <p14:creationId xmlns:p14="http://schemas.microsoft.com/office/powerpoint/2010/main" val="1980922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achieve the precise temperature control like in our brain, work on …</a:t>
            </a:r>
          </a:p>
          <a:p>
            <a:endParaRPr lang="en-US" dirty="0"/>
          </a:p>
          <a:p>
            <a:r>
              <a:rPr lang="en-US" dirty="0"/>
              <a:t>Engineering design: resolution of sensor reading, generation capacity of power and controlling range to prevent overshooting </a:t>
            </a:r>
          </a:p>
          <a:p>
            <a:endParaRPr lang="en-US" dirty="0"/>
          </a:p>
          <a:p>
            <a:r>
              <a:rPr lang="en-US" dirty="0"/>
              <a:t>And the need of mechanically secure to provide an accurate and reliable reading for control, could be completely out of the mapping range with connection and other external factor</a:t>
            </a:r>
          </a:p>
          <a:p>
            <a:endParaRPr lang="en-US" dirty="0"/>
          </a:p>
          <a:p>
            <a:r>
              <a:rPr lang="en-US" dirty="0"/>
              <a:t>Sterilized environment for organoid sample, the system requires to measure the temperature from outer area of the chamber and map it to the inner sample area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endParaRPr lang="en-GB" dirty="0"/>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4</a:t>
            </a:fld>
            <a:endParaRPr lang="en-GB"/>
          </a:p>
        </p:txBody>
      </p:sp>
    </p:spTree>
    <p:extLst>
      <p:ext uri="{BB962C8B-B14F-4D97-AF65-F5344CB8AC3E}">
        <p14:creationId xmlns:p14="http://schemas.microsoft.com/office/powerpoint/2010/main" val="4071761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Proportional control , two parameters, setpoint, mapping to the desired sample temperature, and gain, a tested constant which prop. control the output power</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5</a:t>
            </a:fld>
            <a:endParaRPr lang="en-GB"/>
          </a:p>
        </p:txBody>
      </p:sp>
    </p:spTree>
    <p:extLst>
      <p:ext uri="{BB962C8B-B14F-4D97-AF65-F5344CB8AC3E}">
        <p14:creationId xmlns:p14="http://schemas.microsoft.com/office/powerpoint/2010/main" val="778237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diagram with two circuit</a:t>
            </a:r>
          </a:p>
          <a:p>
            <a:r>
              <a:rPr lang="en-US" dirty="0"/>
              <a:t>Key elements to make the control</a:t>
            </a:r>
          </a:p>
          <a:p>
            <a:r>
              <a:rPr lang="en-US" dirty="0"/>
              <a:t>- PT1000 (platinum), with nearly linear relationship between temperature and its resistance, with high accuracy and long-term stability </a:t>
            </a:r>
          </a:p>
          <a:p>
            <a:r>
              <a:rPr lang="en-US" dirty="0"/>
              <a:t>- Thermoelectric device, </a:t>
            </a:r>
            <a:r>
              <a:rPr lang="en-US" dirty="0" err="1"/>
              <a:t>peltier</a:t>
            </a:r>
            <a:r>
              <a:rPr lang="en-US" dirty="0"/>
              <a:t> plate, which transfer heat from one side to another with current applying.</a:t>
            </a:r>
          </a:p>
          <a:p>
            <a:r>
              <a:rPr lang="en-US" dirty="0"/>
              <a:t>field effect transistor (MOSFETs),act as a switch, which </a:t>
            </a:r>
            <a:r>
              <a:rPr lang="en-US" dirty="0">
                <a:solidFill>
                  <a:schemeClr val="bg2">
                    <a:lumMod val="90000"/>
                  </a:schemeClr>
                </a:solidFill>
              </a:rPr>
              <a:t>vary the controlling signal/voltage to the gate terminal which control the conductivity and allow current flow between drain and source. D</a:t>
            </a:r>
            <a:r>
              <a:rPr lang="en-US" dirty="0"/>
              <a:t>rive the high voltage heating circuit with the microcontroller PWM(on/off) signal</a:t>
            </a:r>
            <a:endParaRPr lang="en-US" dirty="0">
              <a:solidFill>
                <a:schemeClr val="bg2">
                  <a:lumMod val="90000"/>
                </a:schemeClr>
              </a:solidFill>
            </a:endParaRPr>
          </a:p>
          <a:p>
            <a:r>
              <a:rPr lang="en-US" dirty="0">
                <a:solidFill>
                  <a:schemeClr val="bg2">
                    <a:lumMod val="90000"/>
                  </a:schemeClr>
                </a:solidFill>
              </a:rPr>
              <a:t>-Generation capacity of the power, decide the heating power and speed</a:t>
            </a:r>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6</a:t>
            </a:fld>
            <a:endParaRPr lang="en-GB"/>
          </a:p>
        </p:txBody>
      </p:sp>
    </p:spTree>
    <p:extLst>
      <p:ext uri="{BB962C8B-B14F-4D97-AF65-F5344CB8AC3E}">
        <p14:creationId xmlns:p14="http://schemas.microsoft.com/office/powerpoint/2010/main" val="2622642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Input</a:t>
            </a:r>
          </a:p>
          <a:p>
            <a:pPr marL="0" indent="0">
              <a:buNone/>
            </a:pPr>
            <a:r>
              <a:rPr lang="en-US" dirty="0"/>
              <a:t>1. setpoint =  value mapped desired temperature</a:t>
            </a:r>
          </a:p>
          <a:p>
            <a:pPr marL="0" indent="0">
              <a:buNone/>
            </a:pPr>
            <a:r>
              <a:rPr lang="en-US" dirty="0"/>
              <a:t>2. gain = tested constant, decide the controlling range</a:t>
            </a:r>
          </a:p>
          <a:p>
            <a:pPr marL="0" indent="0">
              <a:buNone/>
            </a:pPr>
            <a:r>
              <a:rPr lang="en-US" dirty="0"/>
              <a:t>Output = PWM value which communicate with the heating circuit, the proportion of On/Off time in each duty cycle</a:t>
            </a:r>
          </a:p>
          <a:p>
            <a:pPr marL="0" indent="0">
              <a:buNone/>
            </a:pPr>
            <a:r>
              <a:rPr lang="en-US" dirty="0"/>
              <a:t>Proportional control</a:t>
            </a:r>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7</a:t>
            </a:fld>
            <a:endParaRPr lang="en-GB"/>
          </a:p>
        </p:txBody>
      </p:sp>
    </p:spTree>
    <p:extLst>
      <p:ext uri="{BB962C8B-B14F-4D97-AF65-F5344CB8AC3E}">
        <p14:creationId xmlns:p14="http://schemas.microsoft.com/office/powerpoint/2010/main" val="2432078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visualization, here is the pictures for the setup</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8</a:t>
            </a:fld>
            <a:endParaRPr lang="en-GB"/>
          </a:p>
        </p:txBody>
      </p:sp>
    </p:spTree>
    <p:extLst>
      <p:ext uri="{BB962C8B-B14F-4D97-AF65-F5344CB8AC3E}">
        <p14:creationId xmlns:p14="http://schemas.microsoft.com/office/powerpoint/2010/main" val="347333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 location and inner sample space which can be sealed </a:t>
            </a:r>
          </a:p>
          <a:p>
            <a:r>
              <a:rPr lang="en-US" dirty="0"/>
              <a:t>Prototype board picture, connectors for sensor, heating plate and power adapter</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9</a:t>
            </a:fld>
            <a:endParaRPr lang="en-GB"/>
          </a:p>
        </p:txBody>
      </p:sp>
    </p:spTree>
    <p:extLst>
      <p:ext uri="{BB962C8B-B14F-4D97-AF65-F5344CB8AC3E}">
        <p14:creationId xmlns:p14="http://schemas.microsoft.com/office/powerpoint/2010/main" val="243888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comes to the result, shown both sensor has good linearity across trials in a same day. Worth to note this mapping used all the data from the cooling process, as the heating data is much scattered and hard to map with the liquid temperature measured by the thermometer.</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10</a:t>
            </a:fld>
            <a:endParaRPr lang="en-GB"/>
          </a:p>
        </p:txBody>
      </p:sp>
    </p:spTree>
    <p:extLst>
      <p:ext uri="{BB962C8B-B14F-4D97-AF65-F5344CB8AC3E}">
        <p14:creationId xmlns:p14="http://schemas.microsoft.com/office/powerpoint/2010/main" val="3802216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step response graph, the sensor2 was chose for control as it got a more stable reading in heating, which suggested the connection and location , and the setpoint was switched from 915 to 925, which equivalent to 33 steps to 37.5 Degree Celsius. The graph on the right side shows that the sensor2 raw reading has a good match in shape while as sensor 1 has a quite fluctuated readings through the process. </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11</a:t>
            </a:fld>
            <a:endParaRPr lang="en-GB"/>
          </a:p>
        </p:txBody>
      </p:sp>
    </p:spTree>
    <p:extLst>
      <p:ext uri="{BB962C8B-B14F-4D97-AF65-F5344CB8AC3E}">
        <p14:creationId xmlns:p14="http://schemas.microsoft.com/office/powerpoint/2010/main" val="3975322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the mapping test</a:t>
            </a:r>
            <a:r>
              <a:rPr lang="en-US"/>
              <a:t>, in the </a:t>
            </a:r>
            <a:r>
              <a:rPr lang="en-US" dirty="0"/>
              <a:t>best setpoint range which stabilize the liquid temperature within the optimal temperature range of brain. Within a 15 mins recording after settling, all the 5 setpoints has deviation less than 0.5 degree C, which is a promising result for the control performance, and also indicated that the system has avoided accumulating heat in time. </a:t>
            </a:r>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12</a:t>
            </a:fld>
            <a:endParaRPr lang="en-GB"/>
          </a:p>
        </p:txBody>
      </p:sp>
    </p:spTree>
    <p:extLst>
      <p:ext uri="{BB962C8B-B14F-4D97-AF65-F5344CB8AC3E}">
        <p14:creationId xmlns:p14="http://schemas.microsoft.com/office/powerpoint/2010/main" val="869291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modified circuit removes the offset from the reading, and with an amplifier, the signal then takes use of the most ADC bits</a:t>
            </a:r>
          </a:p>
          <a:p>
            <a:endParaRPr lang="en-US" dirty="0"/>
          </a:p>
          <a:p>
            <a:r>
              <a:rPr lang="en-US" b="1" dirty="0"/>
              <a:t>Voltage reference band gap reference, recalibrate!</a:t>
            </a:r>
            <a:endParaRPr lang="en-GB" b="1" dirty="0"/>
          </a:p>
          <a:p>
            <a:r>
              <a:rPr lang="en-GB" b="1" dirty="0"/>
              <a:t>Capacitor (decoupling capacitor) between the +</a:t>
            </a:r>
            <a:r>
              <a:rPr lang="en-GB" b="1" dirty="0" err="1"/>
              <a:t>ve</a:t>
            </a:r>
            <a:r>
              <a:rPr lang="en-GB" b="1" dirty="0"/>
              <a:t> and –</a:t>
            </a:r>
            <a:r>
              <a:rPr lang="en-GB" b="1" dirty="0" err="1"/>
              <a:t>ve</a:t>
            </a:r>
            <a:r>
              <a:rPr lang="en-GB" b="1" dirty="0"/>
              <a:t> supply of each op amp </a:t>
            </a:r>
            <a:r>
              <a:rPr lang="en-GB" b="1" dirty="0" err="1"/>
              <a:t>ic</a:t>
            </a:r>
            <a:r>
              <a:rPr lang="en-GB" b="1" dirty="0"/>
              <a:t>, for a stable signal and not affect with each other </a:t>
            </a:r>
            <a:endParaRPr lang="en-US" b="1" dirty="0"/>
          </a:p>
        </p:txBody>
      </p:sp>
      <p:sp>
        <p:nvSpPr>
          <p:cNvPr id="4" name="Slide Number Placeholder 3"/>
          <p:cNvSpPr>
            <a:spLocks noGrp="1"/>
          </p:cNvSpPr>
          <p:nvPr>
            <p:ph type="sldNum" sz="quarter" idx="5"/>
          </p:nvPr>
        </p:nvSpPr>
        <p:spPr/>
        <p:txBody>
          <a:bodyPr/>
          <a:lstStyle/>
          <a:p>
            <a:fld id="{803FB776-61CE-4239-BC8B-AAC4BE5819ED}" type="slidenum">
              <a:rPr lang="en-GB" smtClean="0"/>
              <a:t>13</a:t>
            </a:fld>
            <a:endParaRPr lang="en-GB"/>
          </a:p>
        </p:txBody>
      </p:sp>
    </p:spTree>
    <p:extLst>
      <p:ext uri="{BB962C8B-B14F-4D97-AF65-F5344CB8AC3E}">
        <p14:creationId xmlns:p14="http://schemas.microsoft.com/office/powerpoint/2010/main" val="3506586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Demonstration here the step response after amplification, it could provide </a:t>
            </a:r>
            <a:r>
              <a:rPr lang="en-US" dirty="0" err="1"/>
              <a:t>upto</a:t>
            </a:r>
            <a:r>
              <a:rPr lang="en-US" dirty="0"/>
              <a:t> a 13 fold increase of the signal, which improve the resolution of the temperature mapping</a:t>
            </a:r>
            <a:endParaRPr lang="en-GB" dirty="0"/>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14</a:t>
            </a:fld>
            <a:endParaRPr lang="en-GB"/>
          </a:p>
        </p:txBody>
      </p:sp>
    </p:spTree>
    <p:extLst>
      <p:ext uri="{BB962C8B-B14F-4D97-AF65-F5344CB8AC3E}">
        <p14:creationId xmlns:p14="http://schemas.microsoft.com/office/powerpoint/2010/main" val="1766993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no obvious signal in the old organoids, and due to the schedule of the new organoid,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an upcoming imaging plan, focus on the variation in firing rate </a:t>
            </a:r>
          </a:p>
          <a:p>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15</a:t>
            </a:fld>
            <a:endParaRPr lang="en-GB"/>
          </a:p>
        </p:txBody>
      </p:sp>
    </p:spTree>
    <p:extLst>
      <p:ext uri="{BB962C8B-B14F-4D97-AF65-F5344CB8AC3E}">
        <p14:creationId xmlns:p14="http://schemas.microsoft.com/office/powerpoint/2010/main" val="2159438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relationship direct mapping of sensor reading after ADC to the actual temperature</a:t>
            </a:r>
          </a:p>
          <a:p>
            <a:r>
              <a:rPr lang="en-US" dirty="0"/>
              <a:t>Achieve a precise control</a:t>
            </a:r>
          </a:p>
          <a:p>
            <a:r>
              <a:rPr lang="en-US" dirty="0"/>
              <a:t> use Computational method and signal processing for signal </a:t>
            </a:r>
            <a:r>
              <a:rPr lang="en-US" dirty="0" err="1"/>
              <a:t>sterbilisation</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16</a:t>
            </a:fld>
            <a:endParaRPr lang="en-GB"/>
          </a:p>
        </p:txBody>
      </p:sp>
    </p:spTree>
    <p:extLst>
      <p:ext uri="{BB962C8B-B14F-4D97-AF65-F5344CB8AC3E}">
        <p14:creationId xmlns:p14="http://schemas.microsoft.com/office/powerpoint/2010/main" val="3260833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demonstrate the potential of using brain organoids to supplement the animal models, for disease study and other neuroscience research,</a:t>
            </a:r>
          </a:p>
          <a:p>
            <a:endParaRPr lang="en-US" dirty="0"/>
          </a:p>
          <a:p>
            <a:r>
              <a:rPr lang="en-GB" b="0" i="0" dirty="0">
                <a:solidFill>
                  <a:srgbClr val="222222"/>
                </a:solidFill>
                <a:effectLst/>
                <a:latin typeface="Harding"/>
              </a:rPr>
              <a:t>A recent paper tried to insert a probe in vivo, which with temperature control to change striatal tissue temperature,</a:t>
            </a:r>
            <a:r>
              <a:rPr lang="en-US" b="0" i="0" dirty="0">
                <a:solidFill>
                  <a:srgbClr val="222222"/>
                </a:solidFill>
                <a:effectLst/>
                <a:latin typeface="Harding"/>
              </a:rPr>
              <a:t> </a:t>
            </a:r>
            <a:r>
              <a:rPr lang="en-US" dirty="0"/>
              <a:t>a nonmonotonic effect on baseline of firing rate, complex spatiotemporal profile </a:t>
            </a:r>
            <a:endParaRPr lang="en-GB" dirty="0"/>
          </a:p>
        </p:txBody>
      </p:sp>
      <p:sp>
        <p:nvSpPr>
          <p:cNvPr id="4" name="Slide Number Placeholder 3"/>
          <p:cNvSpPr>
            <a:spLocks noGrp="1"/>
          </p:cNvSpPr>
          <p:nvPr>
            <p:ph type="sldNum" sz="quarter" idx="5"/>
          </p:nvPr>
        </p:nvSpPr>
        <p:spPr/>
        <p:txBody>
          <a:bodyPr/>
          <a:lstStyle/>
          <a:p>
            <a:fld id="{803FB776-61CE-4239-BC8B-AAC4BE5819ED}" type="slidenum">
              <a:rPr lang="en-GB" smtClean="0"/>
              <a:t>17</a:t>
            </a:fld>
            <a:endParaRPr lang="en-GB"/>
          </a:p>
        </p:txBody>
      </p:sp>
    </p:spTree>
    <p:extLst>
      <p:ext uri="{BB962C8B-B14F-4D97-AF65-F5344CB8AC3E}">
        <p14:creationId xmlns:p14="http://schemas.microsoft.com/office/powerpoint/2010/main" val="2997607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07E18-0781-E96E-2CB7-0F1ED1299A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B61096D-45FE-E080-10F3-0FC2A56B1D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0204E55-7A6F-DC14-DC8B-6C8650E33649}"/>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5" name="Footer Placeholder 4">
            <a:extLst>
              <a:ext uri="{FF2B5EF4-FFF2-40B4-BE49-F238E27FC236}">
                <a16:creationId xmlns:a16="http://schemas.microsoft.com/office/drawing/2014/main" id="{98C8DD3E-7053-3FC0-B4E4-9F1C4FA6E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C77FF0-27FE-F3DE-2EC1-969DE44C5F26}"/>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3437172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FE9C-B826-6CC6-D92B-4241809DEF9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FEDD123-1873-8F17-743C-191517A8A2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E12BEF-FC04-4E7F-E3C4-F82A52ADE6F3}"/>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5" name="Footer Placeholder 4">
            <a:extLst>
              <a:ext uri="{FF2B5EF4-FFF2-40B4-BE49-F238E27FC236}">
                <a16:creationId xmlns:a16="http://schemas.microsoft.com/office/drawing/2014/main" id="{E987358B-448E-D8CE-ABB7-ACCB4C84A2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92B414-35F6-567B-D68D-E0E098F9480C}"/>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4238867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312B-2262-2A0D-2B52-679E0A190F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9158E24-1BE1-EC25-ED7E-D9A34999AD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B9894A-3584-D6E3-3058-051D033047C7}"/>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5" name="Footer Placeholder 4">
            <a:extLst>
              <a:ext uri="{FF2B5EF4-FFF2-40B4-BE49-F238E27FC236}">
                <a16:creationId xmlns:a16="http://schemas.microsoft.com/office/drawing/2014/main" id="{9016E188-9B76-0774-7B96-2A4B9A33D3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823D4B-21D1-FE68-50E6-812BB62033B7}"/>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117370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811EC-BF96-41BE-E991-B9D03ABE536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1B15BA-B82F-CD60-4FBB-29725D7E56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31349B1-79A9-0C14-312D-13AE20F0F3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E06C2DA-4F42-B03F-861F-8E737EAAB65B}"/>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6" name="Footer Placeholder 5">
            <a:extLst>
              <a:ext uri="{FF2B5EF4-FFF2-40B4-BE49-F238E27FC236}">
                <a16:creationId xmlns:a16="http://schemas.microsoft.com/office/drawing/2014/main" id="{F29D61E2-0E4B-57D5-79A5-76A4DE2F713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66468B6-CAE6-898D-B69A-1371A998552A}"/>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3518439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2F9B3-B411-8C99-32C2-825FB10AE99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90EAEA0-D327-CF7D-10D5-181BD415BE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A27D07-6E87-F1C5-93D7-79DC8613CD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C14E50B-6B23-CD31-73D1-1DE3B76B52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0C2DC-1FEC-56A2-E7CD-7CF856CAC9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458E4E1-0D08-03A9-3A1F-56E8C8FC7A6E}"/>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8" name="Footer Placeholder 7">
            <a:extLst>
              <a:ext uri="{FF2B5EF4-FFF2-40B4-BE49-F238E27FC236}">
                <a16:creationId xmlns:a16="http://schemas.microsoft.com/office/drawing/2014/main" id="{3CB637FD-98B8-6096-A658-55CC20C6499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0438208-1F9C-D6C4-7E54-ED5CC465D809}"/>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3414733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34964-DF2B-CB06-AA17-A118975EE12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EBEDBB6-8E0E-B1DF-AC7F-246CA259EB75}"/>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4" name="Footer Placeholder 3">
            <a:extLst>
              <a:ext uri="{FF2B5EF4-FFF2-40B4-BE49-F238E27FC236}">
                <a16:creationId xmlns:a16="http://schemas.microsoft.com/office/drawing/2014/main" id="{630B5E01-47C8-CC51-8830-A80936467FB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5A5EBFB-7826-89E8-580E-33C98EC0C5F0}"/>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3407228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2DD815-2F92-EBF7-3D1C-716FC45073C1}"/>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3" name="Footer Placeholder 2">
            <a:extLst>
              <a:ext uri="{FF2B5EF4-FFF2-40B4-BE49-F238E27FC236}">
                <a16:creationId xmlns:a16="http://schemas.microsoft.com/office/drawing/2014/main" id="{6526E687-4417-55AB-5344-5160B33AAC6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F13A83C-B27D-0F9E-167B-FE43E9507772}"/>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1522267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CBFD7-9BFE-35E2-392E-6E82BF5E20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B73D20C-1061-E993-986E-D2474410DF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FCD8D3A-24E4-DCEF-9CF7-B54BDA34C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4227D-1AA1-A0E2-CA10-B749734BFA61}"/>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6" name="Footer Placeholder 5">
            <a:extLst>
              <a:ext uri="{FF2B5EF4-FFF2-40B4-BE49-F238E27FC236}">
                <a16:creationId xmlns:a16="http://schemas.microsoft.com/office/drawing/2014/main" id="{6FE8CB97-F314-2D8D-CE45-6D08D611AC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CA4647F-D889-1302-FEBC-C83322A22BC3}"/>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1510816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9A7E-2399-71F6-3354-5FA6E2D6E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541E0E9-96BA-9064-C984-D045F6BF4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718E67B-DFEC-B119-01E2-1ED9ADA452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454AF6-5D7E-90CA-03E2-43AA7B7DCA32}"/>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6" name="Footer Placeholder 5">
            <a:extLst>
              <a:ext uri="{FF2B5EF4-FFF2-40B4-BE49-F238E27FC236}">
                <a16:creationId xmlns:a16="http://schemas.microsoft.com/office/drawing/2014/main" id="{4A992B16-8ABD-0BA4-CA9E-47248A70948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C929E9-03A0-7500-FC96-071BE26478C1}"/>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511199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67FC8-4D36-41B4-AF7E-F2787733750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9B60BE0-5458-06FA-4A2F-7D2633ED3B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D3DA69-6620-12EA-D0E5-A3253533EEB2}"/>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5" name="Footer Placeholder 4">
            <a:extLst>
              <a:ext uri="{FF2B5EF4-FFF2-40B4-BE49-F238E27FC236}">
                <a16:creationId xmlns:a16="http://schemas.microsoft.com/office/drawing/2014/main" id="{F3EA54B7-9180-CD2C-B5AE-A89A42E69D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73F20A-AA2E-AC58-4C48-7018E790DE00}"/>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3103168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E1281B-0580-28AF-1F66-C1DB955250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D1C38E1-4CD6-5972-F03D-B4080B8A11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1F165B-8BC4-A002-1382-C6C23D7A70BE}"/>
              </a:ext>
            </a:extLst>
          </p:cNvPr>
          <p:cNvSpPr>
            <a:spLocks noGrp="1"/>
          </p:cNvSpPr>
          <p:nvPr>
            <p:ph type="dt" sz="half" idx="10"/>
          </p:nvPr>
        </p:nvSpPr>
        <p:spPr/>
        <p:txBody>
          <a:bodyPr/>
          <a:lstStyle/>
          <a:p>
            <a:fld id="{A6C67101-929C-4924-BDD9-D10D847A1673}" type="datetimeFigureOut">
              <a:rPr lang="en-GB" smtClean="0"/>
              <a:t>14/09/2023</a:t>
            </a:fld>
            <a:endParaRPr lang="en-GB"/>
          </a:p>
        </p:txBody>
      </p:sp>
      <p:sp>
        <p:nvSpPr>
          <p:cNvPr id="5" name="Footer Placeholder 4">
            <a:extLst>
              <a:ext uri="{FF2B5EF4-FFF2-40B4-BE49-F238E27FC236}">
                <a16:creationId xmlns:a16="http://schemas.microsoft.com/office/drawing/2014/main" id="{62289DE3-730E-507C-1681-3624394D25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A7E000B-B457-7514-5037-C444CEF12CED}"/>
              </a:ext>
            </a:extLst>
          </p:cNvPr>
          <p:cNvSpPr>
            <a:spLocks noGrp="1"/>
          </p:cNvSpPr>
          <p:nvPr>
            <p:ph type="sldNum" sz="quarter" idx="12"/>
          </p:nvPr>
        </p:nvSpPr>
        <p:spPr/>
        <p:txBody>
          <a:bodyPr/>
          <a:lstStyle/>
          <a:p>
            <a:fld id="{B07C74A7-97DD-4031-AE1D-753B3368B328}" type="slidenum">
              <a:rPr lang="en-GB" smtClean="0"/>
              <a:t>‹#›</a:t>
            </a:fld>
            <a:endParaRPr lang="en-GB"/>
          </a:p>
        </p:txBody>
      </p:sp>
    </p:spTree>
    <p:extLst>
      <p:ext uri="{BB962C8B-B14F-4D97-AF65-F5344CB8AC3E}">
        <p14:creationId xmlns:p14="http://schemas.microsoft.com/office/powerpoint/2010/main" val="4143525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97BB07-FD59-008B-B66B-F2C194D5A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7C26B5-305C-C07A-F23F-40C0B647BB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C40730-5361-0C87-69AF-D51A563026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C67101-929C-4924-BDD9-D10D847A1673}" type="datetimeFigureOut">
              <a:rPr lang="en-GB" smtClean="0"/>
              <a:t>14/09/2023</a:t>
            </a:fld>
            <a:endParaRPr lang="en-GB"/>
          </a:p>
        </p:txBody>
      </p:sp>
      <p:sp>
        <p:nvSpPr>
          <p:cNvPr id="5" name="Footer Placeholder 4">
            <a:extLst>
              <a:ext uri="{FF2B5EF4-FFF2-40B4-BE49-F238E27FC236}">
                <a16:creationId xmlns:a16="http://schemas.microsoft.com/office/drawing/2014/main" id="{8A392B88-2B5E-8832-0001-F4A3C97443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018A94C-3169-0129-424F-5DB8F09528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7C74A7-97DD-4031-AE1D-753B3368B328}" type="slidenum">
              <a:rPr lang="en-GB" smtClean="0"/>
              <a:t>‹#›</a:t>
            </a:fld>
            <a:endParaRPr lang="en-GB"/>
          </a:p>
        </p:txBody>
      </p:sp>
    </p:spTree>
    <p:extLst>
      <p:ext uri="{BB962C8B-B14F-4D97-AF65-F5344CB8AC3E}">
        <p14:creationId xmlns:p14="http://schemas.microsoft.com/office/powerpoint/2010/main" val="3375802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31D0-5295-FA4F-3CF1-34F5932D51F2}"/>
              </a:ext>
            </a:extLst>
          </p:cNvPr>
          <p:cNvSpPr>
            <a:spLocks noGrp="1"/>
          </p:cNvSpPr>
          <p:nvPr>
            <p:ph type="ctrTitle"/>
          </p:nvPr>
        </p:nvSpPr>
        <p:spPr/>
        <p:txBody>
          <a:bodyPr>
            <a:normAutofit fontScale="90000"/>
          </a:bodyPr>
          <a:lstStyle/>
          <a:p>
            <a:r>
              <a:rPr lang="en-US" b="1" dirty="0"/>
              <a:t>Tracking changes in brain organoid spontaneous activity over maturation</a:t>
            </a:r>
            <a:endParaRPr lang="en-GB" b="1" dirty="0"/>
          </a:p>
        </p:txBody>
      </p:sp>
      <p:sp>
        <p:nvSpPr>
          <p:cNvPr id="3" name="Subtitle 2">
            <a:extLst>
              <a:ext uri="{FF2B5EF4-FFF2-40B4-BE49-F238E27FC236}">
                <a16:creationId xmlns:a16="http://schemas.microsoft.com/office/drawing/2014/main" id="{54849FA5-CE61-0DB7-E3F2-18D2DA1791A4}"/>
              </a:ext>
            </a:extLst>
          </p:cNvPr>
          <p:cNvSpPr>
            <a:spLocks noGrp="1"/>
          </p:cNvSpPr>
          <p:nvPr>
            <p:ph type="subTitle" idx="1"/>
          </p:nvPr>
        </p:nvSpPr>
        <p:spPr/>
        <p:txBody>
          <a:bodyPr/>
          <a:lstStyle/>
          <a:p>
            <a:endParaRPr lang="en-US" dirty="0"/>
          </a:p>
          <a:p>
            <a:r>
              <a:rPr lang="en-US" b="1" dirty="0">
                <a:solidFill>
                  <a:schemeClr val="accent1"/>
                </a:solidFill>
              </a:rPr>
              <a:t>Temperature analysis on the activity </a:t>
            </a:r>
          </a:p>
          <a:p>
            <a:endParaRPr lang="en-GB" dirty="0"/>
          </a:p>
        </p:txBody>
      </p:sp>
      <p:sp>
        <p:nvSpPr>
          <p:cNvPr id="4" name="TextBox 3">
            <a:extLst>
              <a:ext uri="{FF2B5EF4-FFF2-40B4-BE49-F238E27FC236}">
                <a16:creationId xmlns:a16="http://schemas.microsoft.com/office/drawing/2014/main" id="{43259265-23DA-D2B4-3D0C-3A6F95D1DE0B}"/>
              </a:ext>
            </a:extLst>
          </p:cNvPr>
          <p:cNvSpPr txBox="1"/>
          <p:nvPr/>
        </p:nvSpPr>
        <p:spPr>
          <a:xfrm>
            <a:off x="5301343" y="5337855"/>
            <a:ext cx="2852057" cy="369332"/>
          </a:xfrm>
          <a:prstGeom prst="rect">
            <a:avLst/>
          </a:prstGeom>
          <a:noFill/>
        </p:spPr>
        <p:txBody>
          <a:bodyPr wrap="square" rtlCol="0">
            <a:spAutoFit/>
          </a:bodyPr>
          <a:lstStyle/>
          <a:p>
            <a:r>
              <a:rPr lang="en-US" b="1" dirty="0"/>
              <a:t>Chuqi Wang</a:t>
            </a:r>
            <a:endParaRPr lang="en-GB" b="1" dirty="0"/>
          </a:p>
        </p:txBody>
      </p:sp>
    </p:spTree>
    <p:extLst>
      <p:ext uri="{BB962C8B-B14F-4D97-AF65-F5344CB8AC3E}">
        <p14:creationId xmlns:p14="http://schemas.microsoft.com/office/powerpoint/2010/main" val="1553896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lear plastic container with a red liquid inside&#10;&#10;Description automatically generated">
            <a:extLst>
              <a:ext uri="{FF2B5EF4-FFF2-40B4-BE49-F238E27FC236}">
                <a16:creationId xmlns:a16="http://schemas.microsoft.com/office/drawing/2014/main" id="{850BD708-A2BE-51B0-5C5F-4B320E861971}"/>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9510305" y="277679"/>
            <a:ext cx="2401933" cy="190255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2" name="Title 1">
            <a:extLst>
              <a:ext uri="{FF2B5EF4-FFF2-40B4-BE49-F238E27FC236}">
                <a16:creationId xmlns:a16="http://schemas.microsoft.com/office/drawing/2014/main" id="{FE5A261D-5DB7-4F51-8879-267E1E648156}"/>
              </a:ext>
            </a:extLst>
          </p:cNvPr>
          <p:cNvSpPr>
            <a:spLocks noGrp="1"/>
          </p:cNvSpPr>
          <p:nvPr>
            <p:ph type="title"/>
          </p:nvPr>
        </p:nvSpPr>
        <p:spPr/>
        <p:txBody>
          <a:bodyPr/>
          <a:lstStyle/>
          <a:p>
            <a:r>
              <a:rPr lang="en-US" b="1" dirty="0"/>
              <a:t>Study Model: Organoid vs. Brain</a:t>
            </a:r>
            <a:endParaRPr lang="en-GB" b="1" dirty="0"/>
          </a:p>
        </p:txBody>
      </p:sp>
      <p:sp>
        <p:nvSpPr>
          <p:cNvPr id="3" name="Content Placeholder 2">
            <a:extLst>
              <a:ext uri="{FF2B5EF4-FFF2-40B4-BE49-F238E27FC236}">
                <a16:creationId xmlns:a16="http://schemas.microsoft.com/office/drawing/2014/main" id="{4972701B-E157-519A-9548-FF3E44ED6ED3}"/>
              </a:ext>
            </a:extLst>
          </p:cNvPr>
          <p:cNvSpPr>
            <a:spLocks noGrp="1"/>
          </p:cNvSpPr>
          <p:nvPr>
            <p:ph sz="half" idx="1"/>
          </p:nvPr>
        </p:nvSpPr>
        <p:spPr>
          <a:xfrm>
            <a:off x="6613346" y="2655802"/>
            <a:ext cx="4970962" cy="2125889"/>
          </a:xfrm>
        </p:spPr>
        <p:txBody>
          <a:bodyPr>
            <a:normAutofit/>
          </a:bodyPr>
          <a:lstStyle/>
          <a:p>
            <a:pPr marL="0" indent="0">
              <a:buNone/>
            </a:pPr>
            <a:r>
              <a:rPr lang="en-US" sz="2200" u="sng" dirty="0"/>
              <a:t>Brain Organoid </a:t>
            </a:r>
          </a:p>
          <a:p>
            <a:r>
              <a:rPr lang="en-US" sz="2200" dirty="0"/>
              <a:t>In vitro model</a:t>
            </a:r>
          </a:p>
          <a:p>
            <a:r>
              <a:rPr lang="en-US" sz="2200" dirty="0"/>
              <a:t>Long-term culture </a:t>
            </a:r>
          </a:p>
          <a:p>
            <a:r>
              <a:rPr lang="en-US" sz="2200" dirty="0"/>
              <a:t>Recapitulate </a:t>
            </a:r>
            <a:r>
              <a:rPr lang="en-US" sz="2200"/>
              <a:t>early developmental </a:t>
            </a:r>
            <a:r>
              <a:rPr lang="en-US" sz="2200" dirty="0"/>
              <a:t>stages [1]</a:t>
            </a:r>
            <a:endParaRPr lang="en-GB" sz="2200" dirty="0"/>
          </a:p>
        </p:txBody>
      </p:sp>
      <p:sp>
        <p:nvSpPr>
          <p:cNvPr id="5" name="TextBox 4">
            <a:extLst>
              <a:ext uri="{FF2B5EF4-FFF2-40B4-BE49-F238E27FC236}">
                <a16:creationId xmlns:a16="http://schemas.microsoft.com/office/drawing/2014/main" id="{C6F03306-B917-9046-8763-75ED81159D21}"/>
              </a:ext>
            </a:extLst>
          </p:cNvPr>
          <p:cNvSpPr txBox="1"/>
          <p:nvPr/>
        </p:nvSpPr>
        <p:spPr>
          <a:xfrm>
            <a:off x="6172200" y="2166258"/>
            <a:ext cx="5181601" cy="369332"/>
          </a:xfrm>
          <a:prstGeom prst="rect">
            <a:avLst/>
          </a:prstGeom>
          <a:noFill/>
        </p:spPr>
        <p:txBody>
          <a:bodyPr wrap="square" rtlCol="0">
            <a:spAutoFit/>
          </a:bodyPr>
          <a:lstStyle/>
          <a:p>
            <a:r>
              <a:rPr lang="en-US" dirty="0">
                <a:solidFill>
                  <a:schemeClr val="bg1"/>
                </a:solidFill>
              </a:rPr>
              <a:t>Highly</a:t>
            </a:r>
            <a:r>
              <a:rPr lang="en-US" dirty="0"/>
              <a:t> </a:t>
            </a:r>
            <a:endParaRPr lang="en-GB" dirty="0"/>
          </a:p>
        </p:txBody>
      </p:sp>
      <p:pic>
        <p:nvPicPr>
          <p:cNvPr id="2052" name="Picture 4" descr="Brain Drawing Images | Free Photos, PNG Stickers, Wallpapers &amp; Backgrounds  - rawpixel">
            <a:extLst>
              <a:ext uri="{FF2B5EF4-FFF2-40B4-BE49-F238E27FC236}">
                <a16:creationId xmlns:a16="http://schemas.microsoft.com/office/drawing/2014/main" id="{C2904E01-05B2-3605-1B80-A17B4B269D32}"/>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45228" y="4495409"/>
            <a:ext cx="2125889" cy="21258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1C0DF80-4812-CA54-BB49-F75CE05BAF6B}"/>
              </a:ext>
            </a:extLst>
          </p:cNvPr>
          <p:cNvSpPr txBox="1"/>
          <p:nvPr/>
        </p:nvSpPr>
        <p:spPr>
          <a:xfrm>
            <a:off x="723901" y="2018009"/>
            <a:ext cx="4261758" cy="2123658"/>
          </a:xfrm>
          <a:prstGeom prst="rect">
            <a:avLst/>
          </a:prstGeom>
          <a:noFill/>
        </p:spPr>
        <p:txBody>
          <a:bodyPr wrap="square" rtlCol="0">
            <a:spAutoFit/>
          </a:bodyPr>
          <a:lstStyle/>
          <a:p>
            <a:r>
              <a:rPr lang="en-US" sz="2200" u="sng" dirty="0"/>
              <a:t>Brain</a:t>
            </a:r>
          </a:p>
          <a:p>
            <a:endParaRPr lang="en-US" sz="2200" u="sng" dirty="0"/>
          </a:p>
          <a:p>
            <a:pPr marL="342900" indent="-342900">
              <a:buFont typeface="Arial" panose="020B0604020202020204" pitchFamily="34" charset="0"/>
              <a:buChar char="•"/>
            </a:pPr>
            <a:r>
              <a:rPr lang="en-US" sz="2200" dirty="0"/>
              <a:t>Complexity for study and understanding</a:t>
            </a:r>
          </a:p>
          <a:p>
            <a:pPr marL="342900" indent="-342900">
              <a:buFont typeface="Arial" panose="020B0604020202020204" pitchFamily="34" charset="0"/>
              <a:buChar char="•"/>
            </a:pPr>
            <a:r>
              <a:rPr lang="en-US" sz="2200" dirty="0"/>
              <a:t>Highly sensitive to temperature</a:t>
            </a:r>
          </a:p>
          <a:p>
            <a:pPr marL="342900" indent="-342900">
              <a:buFont typeface="Arial" panose="020B0604020202020204" pitchFamily="34" charset="0"/>
              <a:buChar char="•"/>
            </a:pPr>
            <a:r>
              <a:rPr lang="en-US" sz="2200" dirty="0"/>
              <a:t>Optimal temperature range </a:t>
            </a:r>
          </a:p>
        </p:txBody>
      </p:sp>
      <p:sp>
        <p:nvSpPr>
          <p:cNvPr id="10" name="TextBox 9">
            <a:extLst>
              <a:ext uri="{FF2B5EF4-FFF2-40B4-BE49-F238E27FC236}">
                <a16:creationId xmlns:a16="http://schemas.microsoft.com/office/drawing/2014/main" id="{D593BB90-989F-C36C-F7C5-6B52693D96AE}"/>
              </a:ext>
            </a:extLst>
          </p:cNvPr>
          <p:cNvSpPr txBox="1"/>
          <p:nvPr/>
        </p:nvSpPr>
        <p:spPr>
          <a:xfrm>
            <a:off x="3712029" y="5145926"/>
            <a:ext cx="3548743" cy="1015663"/>
          </a:xfrm>
          <a:prstGeom prst="rect">
            <a:avLst/>
          </a:prstGeom>
          <a:noFill/>
        </p:spPr>
        <p:txBody>
          <a:bodyPr wrap="square" rtlCol="0">
            <a:spAutoFit/>
          </a:bodyPr>
          <a:lstStyle/>
          <a:p>
            <a:r>
              <a:rPr lang="en-US" sz="2000" b="1" dirty="0">
                <a:solidFill>
                  <a:schemeClr val="accent1"/>
                </a:solidFill>
              </a:rPr>
              <a:t>Expectation:</a:t>
            </a:r>
            <a:r>
              <a:rPr lang="en-US" sz="2000" dirty="0">
                <a:solidFill>
                  <a:schemeClr val="accent1"/>
                </a:solidFill>
              </a:rPr>
              <a:t> to observe similar  temperature impact in organoid model as in the brain</a:t>
            </a:r>
            <a:endParaRPr lang="en-GB" sz="2000" dirty="0">
              <a:solidFill>
                <a:schemeClr val="accent1"/>
              </a:solidFill>
            </a:endParaRPr>
          </a:p>
        </p:txBody>
      </p:sp>
    </p:spTree>
    <p:extLst>
      <p:ext uri="{BB962C8B-B14F-4D97-AF65-F5344CB8AC3E}">
        <p14:creationId xmlns:p14="http://schemas.microsoft.com/office/powerpoint/2010/main" val="211145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37672-C4E1-3A6C-9E73-D916CDCD2567}"/>
              </a:ext>
            </a:extLst>
          </p:cNvPr>
          <p:cNvSpPr>
            <a:spLocks noGrp="1"/>
          </p:cNvSpPr>
          <p:nvPr>
            <p:ph type="title"/>
          </p:nvPr>
        </p:nvSpPr>
        <p:spPr/>
        <p:txBody>
          <a:bodyPr/>
          <a:lstStyle/>
          <a:p>
            <a:r>
              <a:rPr lang="en-US" b="1" dirty="0"/>
              <a:t>Objectives</a:t>
            </a:r>
            <a:endParaRPr lang="en-GB" b="1" dirty="0"/>
          </a:p>
        </p:txBody>
      </p:sp>
      <p:sp>
        <p:nvSpPr>
          <p:cNvPr id="3" name="Content Placeholder 2">
            <a:extLst>
              <a:ext uri="{FF2B5EF4-FFF2-40B4-BE49-F238E27FC236}">
                <a16:creationId xmlns:a16="http://schemas.microsoft.com/office/drawing/2014/main" id="{09EACCA5-1D34-2B98-3D73-ECA5B82CD84E}"/>
              </a:ext>
            </a:extLst>
          </p:cNvPr>
          <p:cNvSpPr>
            <a:spLocks noGrp="1"/>
          </p:cNvSpPr>
          <p:nvPr>
            <p:ph idx="1"/>
          </p:nvPr>
        </p:nvSpPr>
        <p:spPr/>
        <p:txBody>
          <a:bodyPr>
            <a:normAutofit/>
          </a:bodyPr>
          <a:lstStyle/>
          <a:p>
            <a:r>
              <a:rPr lang="en-US" dirty="0"/>
              <a:t>Mimic the thermoregulation (homeostasis), keep organoid under optimal temperature while imaging</a:t>
            </a:r>
          </a:p>
          <a:p>
            <a:endParaRPr lang="en-US" dirty="0"/>
          </a:p>
          <a:p>
            <a:r>
              <a:rPr lang="en-US" dirty="0"/>
              <a:t>Observe the variation of neural activity in organoids under temperature manipulation</a:t>
            </a:r>
          </a:p>
          <a:p>
            <a:pPr marL="0" indent="0">
              <a:buNone/>
            </a:pPr>
            <a:endParaRPr lang="en-US" dirty="0"/>
          </a:p>
          <a:p>
            <a:r>
              <a:rPr lang="en-US" dirty="0"/>
              <a:t>Track and compare the conditions and activities in current feasible development stage. Future application preparation of the model, such as disease screening</a:t>
            </a:r>
          </a:p>
          <a:p>
            <a:pPr marL="0" indent="0">
              <a:buNone/>
            </a:pPr>
            <a:endParaRPr lang="en-GB" dirty="0"/>
          </a:p>
        </p:txBody>
      </p:sp>
    </p:spTree>
    <p:extLst>
      <p:ext uri="{BB962C8B-B14F-4D97-AF65-F5344CB8AC3E}">
        <p14:creationId xmlns:p14="http://schemas.microsoft.com/office/powerpoint/2010/main" val="288495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5E3-DDB1-28A5-0CB3-9CEDDBDE7347}"/>
              </a:ext>
            </a:extLst>
          </p:cNvPr>
          <p:cNvSpPr>
            <a:spLocks noGrp="1"/>
          </p:cNvSpPr>
          <p:nvPr>
            <p:ph type="title"/>
          </p:nvPr>
        </p:nvSpPr>
        <p:spPr/>
        <p:txBody>
          <a:bodyPr/>
          <a:lstStyle/>
          <a:p>
            <a:r>
              <a:rPr lang="en-US" b="1" dirty="0"/>
              <a:t>Fine Temperature Control</a:t>
            </a:r>
            <a:endParaRPr lang="en-GB" b="1" dirty="0"/>
          </a:p>
        </p:txBody>
      </p:sp>
      <p:sp>
        <p:nvSpPr>
          <p:cNvPr id="4" name="Rectangle: Rounded Corners 3">
            <a:extLst>
              <a:ext uri="{FF2B5EF4-FFF2-40B4-BE49-F238E27FC236}">
                <a16:creationId xmlns:a16="http://schemas.microsoft.com/office/drawing/2014/main" id="{FA8BE3BB-C057-7E3F-BCAC-CF619FF3196F}"/>
              </a:ext>
            </a:extLst>
          </p:cNvPr>
          <p:cNvSpPr/>
          <p:nvPr/>
        </p:nvSpPr>
        <p:spPr>
          <a:xfrm>
            <a:off x="719328" y="1814193"/>
            <a:ext cx="4014216" cy="187452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Engineering Design</a:t>
            </a:r>
            <a:endParaRPr lang="en-GB" sz="2800" b="1" dirty="0">
              <a:solidFill>
                <a:schemeClr val="bg1"/>
              </a:solidFill>
            </a:endParaRPr>
          </a:p>
        </p:txBody>
      </p:sp>
      <p:sp>
        <p:nvSpPr>
          <p:cNvPr id="5" name="Oval 4">
            <a:extLst>
              <a:ext uri="{FF2B5EF4-FFF2-40B4-BE49-F238E27FC236}">
                <a16:creationId xmlns:a16="http://schemas.microsoft.com/office/drawing/2014/main" id="{E1FF613F-9C99-C478-BF28-C79A24273710}"/>
              </a:ext>
            </a:extLst>
          </p:cNvPr>
          <p:cNvSpPr/>
          <p:nvPr/>
        </p:nvSpPr>
        <p:spPr>
          <a:xfrm>
            <a:off x="6653784" y="1505806"/>
            <a:ext cx="4398264" cy="2250376"/>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Mechanical Secure</a:t>
            </a:r>
            <a:endParaRPr lang="en-GB" sz="2800" b="1" dirty="0">
              <a:solidFill>
                <a:schemeClr val="bg1"/>
              </a:solidFill>
            </a:endParaRPr>
          </a:p>
        </p:txBody>
      </p:sp>
      <p:sp>
        <p:nvSpPr>
          <p:cNvPr id="6" name="Isosceles Triangle 5">
            <a:extLst>
              <a:ext uri="{FF2B5EF4-FFF2-40B4-BE49-F238E27FC236}">
                <a16:creationId xmlns:a16="http://schemas.microsoft.com/office/drawing/2014/main" id="{1DF55ED1-DD96-4693-0567-5E12042A2D68}"/>
              </a:ext>
            </a:extLst>
          </p:cNvPr>
          <p:cNvSpPr/>
          <p:nvPr/>
        </p:nvSpPr>
        <p:spPr>
          <a:xfrm>
            <a:off x="4462272" y="3756182"/>
            <a:ext cx="4014216" cy="2317844"/>
          </a:xfrm>
          <a:prstGeom prst="triangle">
            <a:avLst>
              <a:gd name="adj" fmla="val 48827"/>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Sterilization</a:t>
            </a:r>
            <a:endParaRPr lang="en-GB" sz="2800" b="1" dirty="0">
              <a:solidFill>
                <a:schemeClr val="bg1"/>
              </a:solidFill>
            </a:endParaRPr>
          </a:p>
        </p:txBody>
      </p:sp>
      <p:sp>
        <p:nvSpPr>
          <p:cNvPr id="8" name="TextBox 7">
            <a:extLst>
              <a:ext uri="{FF2B5EF4-FFF2-40B4-BE49-F238E27FC236}">
                <a16:creationId xmlns:a16="http://schemas.microsoft.com/office/drawing/2014/main" id="{639B1713-893A-30D3-8ABE-8F3514902A1D}"/>
              </a:ext>
            </a:extLst>
          </p:cNvPr>
          <p:cNvSpPr txBox="1"/>
          <p:nvPr/>
        </p:nvSpPr>
        <p:spPr>
          <a:xfrm>
            <a:off x="8852916" y="3988594"/>
            <a:ext cx="1819658" cy="646331"/>
          </a:xfrm>
          <a:prstGeom prst="rect">
            <a:avLst/>
          </a:prstGeom>
          <a:noFill/>
        </p:spPr>
        <p:txBody>
          <a:bodyPr wrap="square" rtlCol="0">
            <a:spAutoFit/>
          </a:bodyPr>
          <a:lstStyle/>
          <a:p>
            <a:r>
              <a:rPr lang="en-US" b="1" dirty="0"/>
              <a:t>Accurate &amp; Reliable Reading</a:t>
            </a:r>
            <a:endParaRPr lang="en-GB" b="1" dirty="0"/>
          </a:p>
        </p:txBody>
      </p:sp>
      <p:sp>
        <p:nvSpPr>
          <p:cNvPr id="9" name="TextBox 8">
            <a:extLst>
              <a:ext uri="{FF2B5EF4-FFF2-40B4-BE49-F238E27FC236}">
                <a16:creationId xmlns:a16="http://schemas.microsoft.com/office/drawing/2014/main" id="{16057D0D-B2CE-99E6-3615-ADA0FD4BE6B2}"/>
              </a:ext>
            </a:extLst>
          </p:cNvPr>
          <p:cNvSpPr txBox="1"/>
          <p:nvPr/>
        </p:nvSpPr>
        <p:spPr>
          <a:xfrm>
            <a:off x="1162265" y="3886200"/>
            <a:ext cx="1718958" cy="646331"/>
          </a:xfrm>
          <a:prstGeom prst="rect">
            <a:avLst/>
          </a:prstGeom>
          <a:noFill/>
        </p:spPr>
        <p:txBody>
          <a:bodyPr wrap="square" rtlCol="0">
            <a:spAutoFit/>
          </a:bodyPr>
          <a:lstStyle/>
          <a:p>
            <a:r>
              <a:rPr lang="en-US" b="1" dirty="0"/>
              <a:t>Sensor Resolution</a:t>
            </a:r>
            <a:endParaRPr lang="en-GB" b="1" dirty="0"/>
          </a:p>
        </p:txBody>
      </p:sp>
      <p:sp>
        <p:nvSpPr>
          <p:cNvPr id="10" name="TextBox 9">
            <a:extLst>
              <a:ext uri="{FF2B5EF4-FFF2-40B4-BE49-F238E27FC236}">
                <a16:creationId xmlns:a16="http://schemas.microsoft.com/office/drawing/2014/main" id="{9353137B-5DA3-9C93-F73A-882DE155E203}"/>
              </a:ext>
            </a:extLst>
          </p:cNvPr>
          <p:cNvSpPr txBox="1"/>
          <p:nvPr/>
        </p:nvSpPr>
        <p:spPr>
          <a:xfrm>
            <a:off x="3141913" y="3836590"/>
            <a:ext cx="1524978" cy="646331"/>
          </a:xfrm>
          <a:prstGeom prst="rect">
            <a:avLst/>
          </a:prstGeom>
          <a:noFill/>
        </p:spPr>
        <p:txBody>
          <a:bodyPr wrap="square" rtlCol="0">
            <a:spAutoFit/>
          </a:bodyPr>
          <a:lstStyle/>
          <a:p>
            <a:r>
              <a:rPr lang="en-US" b="1" dirty="0"/>
              <a:t>Overshooting Prevention</a:t>
            </a:r>
            <a:endParaRPr lang="en-GB" b="1" dirty="0"/>
          </a:p>
        </p:txBody>
      </p:sp>
      <p:sp>
        <p:nvSpPr>
          <p:cNvPr id="12" name="TextBox 11">
            <a:extLst>
              <a:ext uri="{FF2B5EF4-FFF2-40B4-BE49-F238E27FC236}">
                <a16:creationId xmlns:a16="http://schemas.microsoft.com/office/drawing/2014/main" id="{49BDDC1D-3BC4-F297-8701-904D302C01A8}"/>
              </a:ext>
            </a:extLst>
          </p:cNvPr>
          <p:cNvSpPr txBox="1"/>
          <p:nvPr/>
        </p:nvSpPr>
        <p:spPr>
          <a:xfrm>
            <a:off x="8660921" y="5658928"/>
            <a:ext cx="1751162" cy="646331"/>
          </a:xfrm>
          <a:prstGeom prst="rect">
            <a:avLst/>
          </a:prstGeom>
          <a:noFill/>
        </p:spPr>
        <p:txBody>
          <a:bodyPr wrap="square" rtlCol="0">
            <a:spAutoFit/>
          </a:bodyPr>
          <a:lstStyle/>
          <a:p>
            <a:r>
              <a:rPr lang="en-US" b="1" dirty="0"/>
              <a:t>Long-term Tracking</a:t>
            </a:r>
            <a:endParaRPr lang="en-GB" b="1" dirty="0"/>
          </a:p>
        </p:txBody>
      </p:sp>
    </p:spTree>
    <p:extLst>
      <p:ext uri="{BB962C8B-B14F-4D97-AF65-F5344CB8AC3E}">
        <p14:creationId xmlns:p14="http://schemas.microsoft.com/office/powerpoint/2010/main" val="45796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B1AE-6460-620B-552F-BBD0A90B1965}"/>
              </a:ext>
            </a:extLst>
          </p:cNvPr>
          <p:cNvSpPr>
            <a:spLocks noGrp="1"/>
          </p:cNvSpPr>
          <p:nvPr>
            <p:ph type="title"/>
          </p:nvPr>
        </p:nvSpPr>
        <p:spPr/>
        <p:txBody>
          <a:bodyPr/>
          <a:lstStyle/>
          <a:p>
            <a:r>
              <a:rPr lang="en-US" b="1" dirty="0"/>
              <a:t>Feedback Control System</a:t>
            </a:r>
            <a:endParaRPr lang="en-GB" b="1" dirty="0"/>
          </a:p>
        </p:txBody>
      </p:sp>
      <p:sp>
        <p:nvSpPr>
          <p:cNvPr id="28" name="TextBox 27">
            <a:extLst>
              <a:ext uri="{FF2B5EF4-FFF2-40B4-BE49-F238E27FC236}">
                <a16:creationId xmlns:a16="http://schemas.microsoft.com/office/drawing/2014/main" id="{D8AB9505-B154-022F-E1DE-BB263C77F120}"/>
              </a:ext>
            </a:extLst>
          </p:cNvPr>
          <p:cNvSpPr txBox="1"/>
          <p:nvPr/>
        </p:nvSpPr>
        <p:spPr>
          <a:xfrm>
            <a:off x="989274" y="2221802"/>
            <a:ext cx="1138687" cy="369332"/>
          </a:xfrm>
          <a:prstGeom prst="rect">
            <a:avLst/>
          </a:prstGeom>
          <a:solidFill>
            <a:schemeClr val="accent5"/>
          </a:solidFill>
          <a:ln>
            <a:solidFill>
              <a:schemeClr val="accent5"/>
            </a:solidFill>
          </a:ln>
        </p:spPr>
        <p:txBody>
          <a:bodyPr wrap="square" rtlCol="0">
            <a:spAutoFit/>
          </a:bodyPr>
          <a:lstStyle/>
          <a:p>
            <a:r>
              <a:rPr lang="en-US" dirty="0"/>
              <a:t>    Input</a:t>
            </a:r>
            <a:endParaRPr lang="en-GB" dirty="0"/>
          </a:p>
        </p:txBody>
      </p:sp>
      <p:cxnSp>
        <p:nvCxnSpPr>
          <p:cNvPr id="30" name="Straight Arrow Connector 29">
            <a:extLst>
              <a:ext uri="{FF2B5EF4-FFF2-40B4-BE49-F238E27FC236}">
                <a16:creationId xmlns:a16="http://schemas.microsoft.com/office/drawing/2014/main" id="{774EB76C-166E-9641-6623-2FFC56F6F2A2}"/>
              </a:ext>
            </a:extLst>
          </p:cNvPr>
          <p:cNvCxnSpPr>
            <a:cxnSpLocks/>
          </p:cNvCxnSpPr>
          <p:nvPr/>
        </p:nvCxnSpPr>
        <p:spPr>
          <a:xfrm>
            <a:off x="4192434" y="2392638"/>
            <a:ext cx="7591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C72A0D8-4249-49B3-55BB-A34F934B4F56}"/>
              </a:ext>
            </a:extLst>
          </p:cNvPr>
          <p:cNvSpPr txBox="1"/>
          <p:nvPr/>
        </p:nvSpPr>
        <p:spPr>
          <a:xfrm>
            <a:off x="5124092" y="2207973"/>
            <a:ext cx="1414731" cy="369330"/>
          </a:xfrm>
          <a:prstGeom prst="rect">
            <a:avLst/>
          </a:prstGeom>
          <a:solidFill>
            <a:schemeClr val="accent5"/>
          </a:solidFill>
          <a:ln>
            <a:solidFill>
              <a:schemeClr val="accent5"/>
            </a:solidFill>
          </a:ln>
        </p:spPr>
        <p:txBody>
          <a:bodyPr wrap="square" rtlCol="0">
            <a:spAutoFit/>
          </a:bodyPr>
          <a:lstStyle/>
          <a:p>
            <a:r>
              <a:rPr lang="en-US" dirty="0"/>
              <a:t>    Controller</a:t>
            </a:r>
            <a:endParaRPr lang="en-GB" dirty="0"/>
          </a:p>
        </p:txBody>
      </p:sp>
      <p:cxnSp>
        <p:nvCxnSpPr>
          <p:cNvPr id="34" name="Straight Arrow Connector 33">
            <a:extLst>
              <a:ext uri="{FF2B5EF4-FFF2-40B4-BE49-F238E27FC236}">
                <a16:creationId xmlns:a16="http://schemas.microsoft.com/office/drawing/2014/main" id="{85A644A4-4C49-1AC0-221B-4DE504CE747F}"/>
              </a:ext>
            </a:extLst>
          </p:cNvPr>
          <p:cNvCxnSpPr>
            <a:cxnSpLocks/>
          </p:cNvCxnSpPr>
          <p:nvPr/>
        </p:nvCxnSpPr>
        <p:spPr>
          <a:xfrm>
            <a:off x="6775704" y="2392638"/>
            <a:ext cx="2409817" cy="48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B4D2BD8-5675-37CF-2893-BFC4A46E5050}"/>
              </a:ext>
            </a:extLst>
          </p:cNvPr>
          <p:cNvCxnSpPr/>
          <p:nvPr/>
        </p:nvCxnSpPr>
        <p:spPr>
          <a:xfrm>
            <a:off x="7686136" y="2591134"/>
            <a:ext cx="0" cy="15872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04DDF5D9-4CF2-888C-2716-D3D0EDD5F50A}"/>
              </a:ext>
            </a:extLst>
          </p:cNvPr>
          <p:cNvSpPr/>
          <p:nvPr/>
        </p:nvSpPr>
        <p:spPr>
          <a:xfrm>
            <a:off x="3598767" y="2101920"/>
            <a:ext cx="508954" cy="50904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2" name="Straight Connector 41">
            <a:extLst>
              <a:ext uri="{FF2B5EF4-FFF2-40B4-BE49-F238E27FC236}">
                <a16:creationId xmlns:a16="http://schemas.microsoft.com/office/drawing/2014/main" id="{02EEEF5F-E73D-62B0-AB14-45D9BF5BE9B6}"/>
              </a:ext>
            </a:extLst>
          </p:cNvPr>
          <p:cNvCxnSpPr>
            <a:stCxn id="38" idx="1"/>
            <a:endCxn id="38" idx="5"/>
          </p:cNvCxnSpPr>
          <p:nvPr/>
        </p:nvCxnSpPr>
        <p:spPr>
          <a:xfrm>
            <a:off x="3673302" y="2176467"/>
            <a:ext cx="359884" cy="359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8F32677-89F0-E1A1-90F6-9A991CDDF315}"/>
              </a:ext>
            </a:extLst>
          </p:cNvPr>
          <p:cNvCxnSpPr>
            <a:cxnSpLocks/>
            <a:stCxn id="38" idx="7"/>
            <a:endCxn id="38" idx="3"/>
          </p:cNvCxnSpPr>
          <p:nvPr/>
        </p:nvCxnSpPr>
        <p:spPr>
          <a:xfrm flipH="1">
            <a:off x="3673302" y="2176467"/>
            <a:ext cx="359884" cy="359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03E5CA1-EB6D-5DA5-8302-B75850BD789E}"/>
              </a:ext>
            </a:extLst>
          </p:cNvPr>
          <p:cNvCxnSpPr>
            <a:cxnSpLocks/>
          </p:cNvCxnSpPr>
          <p:nvPr/>
        </p:nvCxnSpPr>
        <p:spPr>
          <a:xfrm>
            <a:off x="2216816" y="2406468"/>
            <a:ext cx="11978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C1239E0-4182-A282-045F-D4FC2BEB6E2F}"/>
              </a:ext>
            </a:extLst>
          </p:cNvPr>
          <p:cNvCxnSpPr>
            <a:cxnSpLocks/>
          </p:cNvCxnSpPr>
          <p:nvPr/>
        </p:nvCxnSpPr>
        <p:spPr>
          <a:xfrm>
            <a:off x="6409426" y="4178392"/>
            <a:ext cx="12767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3502851-F09C-523F-88FE-BD69214B03DB}"/>
              </a:ext>
            </a:extLst>
          </p:cNvPr>
          <p:cNvCxnSpPr/>
          <p:nvPr/>
        </p:nvCxnSpPr>
        <p:spPr>
          <a:xfrm flipV="1">
            <a:off x="3868945" y="2635370"/>
            <a:ext cx="0" cy="15872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C76F4CDE-2B55-8014-6046-76A30180F8BC}"/>
              </a:ext>
            </a:extLst>
          </p:cNvPr>
          <p:cNvSpPr txBox="1"/>
          <p:nvPr/>
        </p:nvSpPr>
        <p:spPr>
          <a:xfrm>
            <a:off x="7841384" y="3604022"/>
            <a:ext cx="1509621" cy="369332"/>
          </a:xfrm>
          <a:prstGeom prst="rect">
            <a:avLst/>
          </a:prstGeom>
          <a:noFill/>
        </p:spPr>
        <p:txBody>
          <a:bodyPr wrap="square" rtlCol="0">
            <a:spAutoFit/>
          </a:bodyPr>
          <a:lstStyle/>
          <a:p>
            <a:r>
              <a:rPr lang="en-US" dirty="0"/>
              <a:t>Feedback</a:t>
            </a:r>
            <a:endParaRPr lang="en-GB" dirty="0"/>
          </a:p>
        </p:txBody>
      </p:sp>
      <p:sp>
        <p:nvSpPr>
          <p:cNvPr id="52" name="TextBox 51">
            <a:extLst>
              <a:ext uri="{FF2B5EF4-FFF2-40B4-BE49-F238E27FC236}">
                <a16:creationId xmlns:a16="http://schemas.microsoft.com/office/drawing/2014/main" id="{77347510-8CA2-95BB-6C9B-1CAFB81762ED}"/>
              </a:ext>
            </a:extLst>
          </p:cNvPr>
          <p:cNvSpPr txBox="1"/>
          <p:nvPr/>
        </p:nvSpPr>
        <p:spPr>
          <a:xfrm>
            <a:off x="5016261" y="4037964"/>
            <a:ext cx="1630392" cy="369332"/>
          </a:xfrm>
          <a:prstGeom prst="rect">
            <a:avLst/>
          </a:prstGeom>
          <a:solidFill>
            <a:schemeClr val="accent5"/>
          </a:solidFill>
          <a:ln>
            <a:solidFill>
              <a:schemeClr val="accent5"/>
            </a:solidFill>
          </a:ln>
        </p:spPr>
        <p:txBody>
          <a:bodyPr wrap="square" rtlCol="0">
            <a:spAutoFit/>
          </a:bodyPr>
          <a:lstStyle/>
          <a:p>
            <a:r>
              <a:rPr lang="en-US" dirty="0"/>
              <a:t>Sensor reading</a:t>
            </a:r>
            <a:endParaRPr lang="en-GB" dirty="0"/>
          </a:p>
        </p:txBody>
      </p:sp>
      <p:sp>
        <p:nvSpPr>
          <p:cNvPr id="53" name="TextBox 52">
            <a:extLst>
              <a:ext uri="{FF2B5EF4-FFF2-40B4-BE49-F238E27FC236}">
                <a16:creationId xmlns:a16="http://schemas.microsoft.com/office/drawing/2014/main" id="{CBF42FCD-0FFC-702B-8E1C-AB894C3CD862}"/>
              </a:ext>
            </a:extLst>
          </p:cNvPr>
          <p:cNvSpPr txBox="1"/>
          <p:nvPr/>
        </p:nvSpPr>
        <p:spPr>
          <a:xfrm>
            <a:off x="6422484" y="1746307"/>
            <a:ext cx="3173754" cy="369332"/>
          </a:xfrm>
          <a:prstGeom prst="rect">
            <a:avLst/>
          </a:prstGeom>
          <a:solidFill>
            <a:schemeClr val="bg1"/>
          </a:solidFill>
          <a:ln>
            <a:solidFill>
              <a:schemeClr val="bg1"/>
            </a:solidFill>
          </a:ln>
        </p:spPr>
        <p:txBody>
          <a:bodyPr wrap="none" rtlCol="0">
            <a:spAutoFit/>
          </a:bodyPr>
          <a:lstStyle/>
          <a:p>
            <a:r>
              <a:rPr lang="en-US" dirty="0"/>
              <a:t>Pulse width modulation (PWM)</a:t>
            </a:r>
            <a:endParaRPr lang="en-GB" dirty="0"/>
          </a:p>
        </p:txBody>
      </p:sp>
      <p:sp>
        <p:nvSpPr>
          <p:cNvPr id="54" name="TextBox 53">
            <a:extLst>
              <a:ext uri="{FF2B5EF4-FFF2-40B4-BE49-F238E27FC236}">
                <a16:creationId xmlns:a16="http://schemas.microsoft.com/office/drawing/2014/main" id="{4C912BE4-DF4B-22F0-71F6-96363E2C48BE}"/>
              </a:ext>
            </a:extLst>
          </p:cNvPr>
          <p:cNvSpPr txBox="1"/>
          <p:nvPr/>
        </p:nvSpPr>
        <p:spPr>
          <a:xfrm>
            <a:off x="3473679" y="1640255"/>
            <a:ext cx="759129" cy="369332"/>
          </a:xfrm>
          <a:prstGeom prst="rect">
            <a:avLst/>
          </a:prstGeom>
          <a:solidFill>
            <a:schemeClr val="bg1"/>
          </a:solidFill>
          <a:ln>
            <a:solidFill>
              <a:schemeClr val="bg1"/>
            </a:solidFill>
          </a:ln>
        </p:spPr>
        <p:txBody>
          <a:bodyPr wrap="square" rtlCol="0">
            <a:spAutoFit/>
          </a:bodyPr>
          <a:lstStyle/>
          <a:p>
            <a:r>
              <a:rPr lang="en-US" dirty="0"/>
              <a:t>Error</a:t>
            </a:r>
            <a:endParaRPr lang="en-GB" dirty="0"/>
          </a:p>
        </p:txBody>
      </p:sp>
      <p:cxnSp>
        <p:nvCxnSpPr>
          <p:cNvPr id="58" name="Straight Connector 57">
            <a:extLst>
              <a:ext uri="{FF2B5EF4-FFF2-40B4-BE49-F238E27FC236}">
                <a16:creationId xmlns:a16="http://schemas.microsoft.com/office/drawing/2014/main" id="{1867B068-EE01-A5F8-06C3-99C23AA7539A}"/>
              </a:ext>
            </a:extLst>
          </p:cNvPr>
          <p:cNvCxnSpPr>
            <a:cxnSpLocks/>
          </p:cNvCxnSpPr>
          <p:nvPr/>
        </p:nvCxnSpPr>
        <p:spPr>
          <a:xfrm>
            <a:off x="3868945" y="4222630"/>
            <a:ext cx="11693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7D4ADFF-76DF-FC10-D397-8EAD1E4D5B4B}"/>
              </a:ext>
            </a:extLst>
          </p:cNvPr>
          <p:cNvSpPr txBox="1"/>
          <p:nvPr/>
        </p:nvSpPr>
        <p:spPr>
          <a:xfrm>
            <a:off x="9485952" y="2166891"/>
            <a:ext cx="1285335" cy="369332"/>
          </a:xfrm>
          <a:prstGeom prst="rect">
            <a:avLst/>
          </a:prstGeom>
          <a:solidFill>
            <a:schemeClr val="accent5"/>
          </a:solidFill>
          <a:ln>
            <a:solidFill>
              <a:schemeClr val="accent5"/>
            </a:solidFill>
          </a:ln>
        </p:spPr>
        <p:txBody>
          <a:bodyPr wrap="square" rtlCol="0">
            <a:spAutoFit/>
          </a:bodyPr>
          <a:lstStyle/>
          <a:p>
            <a:r>
              <a:rPr lang="en-US" dirty="0"/>
              <a:t>   Output 	</a:t>
            </a:r>
          </a:p>
        </p:txBody>
      </p:sp>
      <p:sp>
        <p:nvSpPr>
          <p:cNvPr id="65" name="TextBox 64">
            <a:extLst>
              <a:ext uri="{FF2B5EF4-FFF2-40B4-BE49-F238E27FC236}">
                <a16:creationId xmlns:a16="http://schemas.microsoft.com/office/drawing/2014/main" id="{DDE18E22-FD96-BF2C-5565-649245E60ED2}"/>
              </a:ext>
            </a:extLst>
          </p:cNvPr>
          <p:cNvSpPr txBox="1">
            <a:spLocks/>
          </p:cNvSpPr>
          <p:nvPr/>
        </p:nvSpPr>
        <p:spPr>
          <a:xfrm>
            <a:off x="2312926" y="2000850"/>
            <a:ext cx="1101753" cy="369332"/>
          </a:xfrm>
          <a:prstGeom prst="rect">
            <a:avLst/>
          </a:prstGeom>
          <a:noFill/>
        </p:spPr>
        <p:txBody>
          <a:bodyPr wrap="square" rtlCol="0">
            <a:spAutoFit/>
          </a:bodyPr>
          <a:lstStyle/>
          <a:p>
            <a:r>
              <a:rPr lang="en-US" dirty="0"/>
              <a:t>Setpoint</a:t>
            </a:r>
            <a:endParaRPr lang="en-GB" dirty="0"/>
          </a:p>
        </p:txBody>
      </p:sp>
      <p:sp>
        <p:nvSpPr>
          <p:cNvPr id="3" name="TextBox 2">
            <a:extLst>
              <a:ext uri="{FF2B5EF4-FFF2-40B4-BE49-F238E27FC236}">
                <a16:creationId xmlns:a16="http://schemas.microsoft.com/office/drawing/2014/main" id="{53A6BEB9-7B63-31DE-1311-8793AC8C70A9}"/>
              </a:ext>
            </a:extLst>
          </p:cNvPr>
          <p:cNvSpPr txBox="1"/>
          <p:nvPr/>
        </p:nvSpPr>
        <p:spPr>
          <a:xfrm>
            <a:off x="1188720" y="5422392"/>
            <a:ext cx="3483859" cy="923330"/>
          </a:xfrm>
          <a:prstGeom prst="rect">
            <a:avLst/>
          </a:prstGeom>
          <a:noFill/>
        </p:spPr>
        <p:txBody>
          <a:bodyPr wrap="square" rtlCol="0">
            <a:spAutoFit/>
          </a:bodyPr>
          <a:lstStyle/>
          <a:p>
            <a:r>
              <a:rPr lang="en-US" b="1" dirty="0"/>
              <a:t>Error = setpoint – sensor reading</a:t>
            </a:r>
          </a:p>
          <a:p>
            <a:endParaRPr lang="en-GB" b="1" dirty="0"/>
          </a:p>
          <a:p>
            <a:r>
              <a:rPr lang="en-GB" b="1" dirty="0"/>
              <a:t>Output = error * gain</a:t>
            </a:r>
            <a:endParaRPr lang="en-US" b="1" dirty="0"/>
          </a:p>
        </p:txBody>
      </p:sp>
      <p:sp>
        <p:nvSpPr>
          <p:cNvPr id="5" name="Oval 4">
            <a:extLst>
              <a:ext uri="{FF2B5EF4-FFF2-40B4-BE49-F238E27FC236}">
                <a16:creationId xmlns:a16="http://schemas.microsoft.com/office/drawing/2014/main" id="{5E80847A-08A8-FAFC-AF19-9987025B26F7}"/>
              </a:ext>
            </a:extLst>
          </p:cNvPr>
          <p:cNvSpPr/>
          <p:nvPr/>
        </p:nvSpPr>
        <p:spPr>
          <a:xfrm>
            <a:off x="1947849" y="5442218"/>
            <a:ext cx="893322" cy="377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FDAF1BFC-E45E-1F08-0ADA-C70F21520D5A}"/>
              </a:ext>
            </a:extLst>
          </p:cNvPr>
          <p:cNvSpPr/>
          <p:nvPr/>
        </p:nvSpPr>
        <p:spPr>
          <a:xfrm>
            <a:off x="2705445" y="5988492"/>
            <a:ext cx="893322" cy="3770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0100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4B91C-D09F-A54F-D386-59709CE3057E}"/>
              </a:ext>
            </a:extLst>
          </p:cNvPr>
          <p:cNvSpPr>
            <a:spLocks noGrp="1"/>
          </p:cNvSpPr>
          <p:nvPr>
            <p:ph type="title"/>
          </p:nvPr>
        </p:nvSpPr>
        <p:spPr/>
        <p:txBody>
          <a:bodyPr/>
          <a:lstStyle/>
          <a:p>
            <a:r>
              <a:rPr lang="en-US" b="1" dirty="0"/>
              <a:t>Circuit Design</a:t>
            </a:r>
            <a:endParaRPr lang="en-GB" b="1" dirty="0"/>
          </a:p>
        </p:txBody>
      </p:sp>
      <p:sp>
        <p:nvSpPr>
          <p:cNvPr id="6" name="TextBox 5">
            <a:extLst>
              <a:ext uri="{FF2B5EF4-FFF2-40B4-BE49-F238E27FC236}">
                <a16:creationId xmlns:a16="http://schemas.microsoft.com/office/drawing/2014/main" id="{54C43E01-18CE-1310-39A3-F8CD821E1029}"/>
              </a:ext>
            </a:extLst>
          </p:cNvPr>
          <p:cNvSpPr txBox="1"/>
          <p:nvPr/>
        </p:nvSpPr>
        <p:spPr>
          <a:xfrm>
            <a:off x="9715500" y="3059668"/>
            <a:ext cx="1943100" cy="1200329"/>
          </a:xfrm>
          <a:prstGeom prst="rect">
            <a:avLst/>
          </a:prstGeom>
          <a:noFill/>
        </p:spPr>
        <p:txBody>
          <a:bodyPr wrap="square" rtlCol="0">
            <a:spAutoFit/>
          </a:bodyPr>
          <a:lstStyle/>
          <a:p>
            <a:r>
              <a:rPr lang="en-US" dirty="0"/>
              <a:t>FET, act as a switch, which controlled by the sensor value</a:t>
            </a:r>
            <a:endParaRPr lang="en-GB" dirty="0"/>
          </a:p>
        </p:txBody>
      </p:sp>
      <p:pic>
        <p:nvPicPr>
          <p:cNvPr id="10" name="Picture 9">
            <a:extLst>
              <a:ext uri="{FF2B5EF4-FFF2-40B4-BE49-F238E27FC236}">
                <a16:creationId xmlns:a16="http://schemas.microsoft.com/office/drawing/2014/main" id="{06CDBD47-787C-A025-71E7-0F96AF1E3125}"/>
              </a:ext>
            </a:extLst>
          </p:cNvPr>
          <p:cNvPicPr>
            <a:picLocks noChangeAspect="1"/>
          </p:cNvPicPr>
          <p:nvPr/>
        </p:nvPicPr>
        <p:blipFill>
          <a:blip r:embed="rId3"/>
          <a:stretch>
            <a:fillRect/>
          </a:stretch>
        </p:blipFill>
        <p:spPr>
          <a:xfrm>
            <a:off x="1309705" y="1480213"/>
            <a:ext cx="8179220" cy="5092962"/>
          </a:xfrm>
          <a:prstGeom prst="rect">
            <a:avLst/>
          </a:prstGeom>
        </p:spPr>
      </p:pic>
      <p:pic>
        <p:nvPicPr>
          <p:cNvPr id="14" name="Picture 13">
            <a:extLst>
              <a:ext uri="{FF2B5EF4-FFF2-40B4-BE49-F238E27FC236}">
                <a16:creationId xmlns:a16="http://schemas.microsoft.com/office/drawing/2014/main" id="{C93E3F15-F9A2-9BA8-7A68-0795E03B8A25}"/>
              </a:ext>
            </a:extLst>
          </p:cNvPr>
          <p:cNvPicPr>
            <a:picLocks noChangeAspect="1"/>
          </p:cNvPicPr>
          <p:nvPr/>
        </p:nvPicPr>
        <p:blipFill>
          <a:blip r:embed="rId4"/>
          <a:stretch>
            <a:fillRect/>
          </a:stretch>
        </p:blipFill>
        <p:spPr>
          <a:xfrm>
            <a:off x="9488925" y="1428611"/>
            <a:ext cx="1282766" cy="1358970"/>
          </a:xfrm>
          <a:prstGeom prst="rect">
            <a:avLst/>
          </a:prstGeom>
        </p:spPr>
      </p:pic>
      <p:sp>
        <p:nvSpPr>
          <p:cNvPr id="15" name="Oval 14">
            <a:extLst>
              <a:ext uri="{FF2B5EF4-FFF2-40B4-BE49-F238E27FC236}">
                <a16:creationId xmlns:a16="http://schemas.microsoft.com/office/drawing/2014/main" id="{42876983-CB94-582D-EF7B-01BBC6546830}"/>
              </a:ext>
            </a:extLst>
          </p:cNvPr>
          <p:cNvSpPr/>
          <p:nvPr/>
        </p:nvSpPr>
        <p:spPr>
          <a:xfrm>
            <a:off x="7372952" y="3573463"/>
            <a:ext cx="452387" cy="44027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241DA6D0-E7DE-B47F-DF58-7E704EA0EE5B}"/>
              </a:ext>
            </a:extLst>
          </p:cNvPr>
          <p:cNvCxnSpPr/>
          <p:nvPr/>
        </p:nvCxnSpPr>
        <p:spPr>
          <a:xfrm flipH="1">
            <a:off x="7825339" y="2483318"/>
            <a:ext cx="1801261" cy="122508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489B7982-5F14-2045-21F7-45A4EC2966E9}"/>
              </a:ext>
            </a:extLst>
          </p:cNvPr>
          <p:cNvSpPr/>
          <p:nvPr/>
        </p:nvSpPr>
        <p:spPr>
          <a:xfrm>
            <a:off x="8477641" y="3429000"/>
            <a:ext cx="346509" cy="58473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Connector 21">
            <a:extLst>
              <a:ext uri="{FF2B5EF4-FFF2-40B4-BE49-F238E27FC236}">
                <a16:creationId xmlns:a16="http://schemas.microsoft.com/office/drawing/2014/main" id="{DEE48F78-FDD5-DF6D-2E4F-3CE7DE8D5E54}"/>
              </a:ext>
            </a:extLst>
          </p:cNvPr>
          <p:cNvCxnSpPr/>
          <p:nvPr/>
        </p:nvCxnSpPr>
        <p:spPr>
          <a:xfrm>
            <a:off x="8725969" y="4119613"/>
            <a:ext cx="283277" cy="99140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7933397-AE80-F0B9-C886-F77221367F9D}"/>
              </a:ext>
            </a:extLst>
          </p:cNvPr>
          <p:cNvSpPr txBox="1"/>
          <p:nvPr/>
        </p:nvSpPr>
        <p:spPr>
          <a:xfrm>
            <a:off x="9009246" y="5111015"/>
            <a:ext cx="1943100" cy="646331"/>
          </a:xfrm>
          <a:prstGeom prst="rect">
            <a:avLst/>
          </a:prstGeom>
          <a:noFill/>
        </p:spPr>
        <p:txBody>
          <a:bodyPr wrap="square" rtlCol="0">
            <a:spAutoFit/>
          </a:bodyPr>
          <a:lstStyle/>
          <a:p>
            <a:r>
              <a:rPr lang="en-US" dirty="0"/>
              <a:t>Power adapter, AC to DC 12V</a:t>
            </a:r>
            <a:endParaRPr lang="en-GB" dirty="0"/>
          </a:p>
        </p:txBody>
      </p:sp>
      <p:sp>
        <p:nvSpPr>
          <p:cNvPr id="24" name="Oval 23">
            <a:extLst>
              <a:ext uri="{FF2B5EF4-FFF2-40B4-BE49-F238E27FC236}">
                <a16:creationId xmlns:a16="http://schemas.microsoft.com/office/drawing/2014/main" id="{4BB1EDBA-53F6-3E06-0A39-BAB3CA658792}"/>
              </a:ext>
            </a:extLst>
          </p:cNvPr>
          <p:cNvSpPr/>
          <p:nvPr/>
        </p:nvSpPr>
        <p:spPr>
          <a:xfrm>
            <a:off x="7960093" y="2627697"/>
            <a:ext cx="383741" cy="43197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a:extLst>
              <a:ext uri="{FF2B5EF4-FFF2-40B4-BE49-F238E27FC236}">
                <a16:creationId xmlns:a16="http://schemas.microsoft.com/office/drawing/2014/main" id="{2470DFAA-F714-90FD-75A0-D90FED14462E}"/>
              </a:ext>
            </a:extLst>
          </p:cNvPr>
          <p:cNvCxnSpPr>
            <a:endCxn id="24" idx="0"/>
          </p:cNvCxnSpPr>
          <p:nvPr/>
        </p:nvCxnSpPr>
        <p:spPr>
          <a:xfrm>
            <a:off x="7960093" y="2322362"/>
            <a:ext cx="173254" cy="3053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7D6C811-F6A5-EAFB-4904-781436000D92}"/>
              </a:ext>
            </a:extLst>
          </p:cNvPr>
          <p:cNvSpPr txBox="1"/>
          <p:nvPr/>
        </p:nvSpPr>
        <p:spPr>
          <a:xfrm>
            <a:off x="7614852" y="1742290"/>
            <a:ext cx="1009384" cy="646331"/>
          </a:xfrm>
          <a:prstGeom prst="rect">
            <a:avLst/>
          </a:prstGeom>
          <a:noFill/>
        </p:spPr>
        <p:txBody>
          <a:bodyPr wrap="square" rtlCol="0">
            <a:spAutoFit/>
          </a:bodyPr>
          <a:lstStyle/>
          <a:p>
            <a:r>
              <a:rPr lang="en-US" dirty="0"/>
              <a:t>Peltier plate </a:t>
            </a:r>
            <a:endParaRPr lang="en-GB" dirty="0"/>
          </a:p>
        </p:txBody>
      </p:sp>
      <p:sp>
        <p:nvSpPr>
          <p:cNvPr id="28" name="TextBox 27">
            <a:extLst>
              <a:ext uri="{FF2B5EF4-FFF2-40B4-BE49-F238E27FC236}">
                <a16:creationId xmlns:a16="http://schemas.microsoft.com/office/drawing/2014/main" id="{ABB0F09F-C885-D8F2-FABC-27F8733173F6}"/>
              </a:ext>
            </a:extLst>
          </p:cNvPr>
          <p:cNvSpPr txBox="1"/>
          <p:nvPr/>
        </p:nvSpPr>
        <p:spPr>
          <a:xfrm>
            <a:off x="164615" y="3552070"/>
            <a:ext cx="2538460" cy="461665"/>
          </a:xfrm>
          <a:prstGeom prst="rect">
            <a:avLst/>
          </a:prstGeom>
          <a:noFill/>
        </p:spPr>
        <p:txBody>
          <a:bodyPr wrap="square" rtlCol="0">
            <a:spAutoFit/>
          </a:bodyPr>
          <a:lstStyle/>
          <a:p>
            <a:r>
              <a:rPr lang="en-US" sz="2400" b="1" dirty="0">
                <a:solidFill>
                  <a:schemeClr val="accent1"/>
                </a:solidFill>
              </a:rPr>
              <a:t>Monitoring Circuit</a:t>
            </a:r>
            <a:r>
              <a:rPr lang="en-US" dirty="0"/>
              <a:t> </a:t>
            </a:r>
            <a:endParaRPr lang="en-GB" dirty="0"/>
          </a:p>
        </p:txBody>
      </p:sp>
      <p:sp>
        <p:nvSpPr>
          <p:cNvPr id="29" name="TextBox 28">
            <a:extLst>
              <a:ext uri="{FF2B5EF4-FFF2-40B4-BE49-F238E27FC236}">
                <a16:creationId xmlns:a16="http://schemas.microsoft.com/office/drawing/2014/main" id="{DCFC4602-D64A-8659-CCE1-C2153ACEC129}"/>
              </a:ext>
            </a:extLst>
          </p:cNvPr>
          <p:cNvSpPr txBox="1"/>
          <p:nvPr/>
        </p:nvSpPr>
        <p:spPr>
          <a:xfrm>
            <a:off x="7825337" y="970815"/>
            <a:ext cx="2637323" cy="523220"/>
          </a:xfrm>
          <a:prstGeom prst="rect">
            <a:avLst/>
          </a:prstGeom>
          <a:noFill/>
        </p:spPr>
        <p:txBody>
          <a:bodyPr wrap="square" rtlCol="0">
            <a:spAutoFit/>
          </a:bodyPr>
          <a:lstStyle/>
          <a:p>
            <a:r>
              <a:rPr lang="en-US" sz="2800" b="1" dirty="0">
                <a:solidFill>
                  <a:schemeClr val="accent1"/>
                </a:solidFill>
              </a:rPr>
              <a:t>Heating Circuit</a:t>
            </a:r>
            <a:endParaRPr lang="en-GB" sz="2800" b="1" dirty="0">
              <a:solidFill>
                <a:schemeClr val="accent1"/>
              </a:solidFill>
            </a:endParaRPr>
          </a:p>
        </p:txBody>
      </p:sp>
      <p:sp>
        <p:nvSpPr>
          <p:cNvPr id="30" name="Oval 29">
            <a:extLst>
              <a:ext uri="{FF2B5EF4-FFF2-40B4-BE49-F238E27FC236}">
                <a16:creationId xmlns:a16="http://schemas.microsoft.com/office/drawing/2014/main" id="{35C0EE60-3CA2-6BB2-E7A5-F38D715BDD4F}"/>
              </a:ext>
            </a:extLst>
          </p:cNvPr>
          <p:cNvSpPr/>
          <p:nvPr/>
        </p:nvSpPr>
        <p:spPr>
          <a:xfrm>
            <a:off x="2050181" y="2627697"/>
            <a:ext cx="250257" cy="46166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684C1F9B-5529-DAE0-02EF-A22268D705D6}"/>
              </a:ext>
            </a:extLst>
          </p:cNvPr>
          <p:cNvSpPr/>
          <p:nvPr/>
        </p:nvSpPr>
        <p:spPr>
          <a:xfrm>
            <a:off x="2040556" y="5644284"/>
            <a:ext cx="250257" cy="46166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396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ppt_x"/>
                                          </p:val>
                                        </p:tav>
                                        <p:tav tm="100000">
                                          <p:val>
                                            <p:strVal val="#ppt_x"/>
                                          </p:val>
                                        </p:tav>
                                      </p:tavLst>
                                    </p:anim>
                                    <p:anim calcmode="lin" valueType="num">
                                      <p:cBhvr additive="base">
                                        <p:cTn id="2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ppt_x"/>
                                          </p:val>
                                        </p:tav>
                                        <p:tav tm="100000">
                                          <p:val>
                                            <p:strVal val="#ppt_x"/>
                                          </p:val>
                                        </p:tav>
                                      </p:tavLst>
                                    </p:anim>
                                    <p:anim calcmode="lin" valueType="num">
                                      <p:cBhvr additive="base">
                                        <p:cTn id="54" dur="500" fill="hold"/>
                                        <p:tgtEl>
                                          <p:spTgt spid="18"/>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ppt_x"/>
                                          </p:val>
                                        </p:tav>
                                        <p:tav tm="100000">
                                          <p:val>
                                            <p:strVal val="#ppt_x"/>
                                          </p:val>
                                        </p:tav>
                                      </p:tavLst>
                                    </p:anim>
                                    <p:anim calcmode="lin" valueType="num">
                                      <p:cBhvr additive="base">
                                        <p:cTn id="5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18" grpId="0" animBg="1"/>
      <p:bldP spid="23" grpId="0"/>
      <p:bldP spid="24" grpId="0" animBg="1"/>
      <p:bldP spid="27" grpId="0"/>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8B6DB-1378-CB4E-2969-5A3DA3451708}"/>
              </a:ext>
            </a:extLst>
          </p:cNvPr>
          <p:cNvSpPr>
            <a:spLocks noGrp="1"/>
          </p:cNvSpPr>
          <p:nvPr>
            <p:ph type="title"/>
          </p:nvPr>
        </p:nvSpPr>
        <p:spPr/>
        <p:txBody>
          <a:bodyPr/>
          <a:lstStyle/>
          <a:p>
            <a:r>
              <a:rPr lang="en-US" b="1" dirty="0"/>
              <a:t>Coding</a:t>
            </a:r>
            <a:endParaRPr lang="en-GB" b="1" dirty="0"/>
          </a:p>
        </p:txBody>
      </p:sp>
      <p:sp>
        <p:nvSpPr>
          <p:cNvPr id="3" name="Content Placeholder 2">
            <a:extLst>
              <a:ext uri="{FF2B5EF4-FFF2-40B4-BE49-F238E27FC236}">
                <a16:creationId xmlns:a16="http://schemas.microsoft.com/office/drawing/2014/main" id="{81DDA725-08E9-065A-2073-541666E5EF72}"/>
              </a:ext>
            </a:extLst>
          </p:cNvPr>
          <p:cNvSpPr>
            <a:spLocks noGrp="1"/>
          </p:cNvSpPr>
          <p:nvPr>
            <p:ph sz="half" idx="1"/>
          </p:nvPr>
        </p:nvSpPr>
        <p:spPr>
          <a:xfrm>
            <a:off x="838200" y="1825625"/>
            <a:ext cx="4038600" cy="4594426"/>
          </a:xfrm>
          <a:ln w="19050">
            <a:solidFill>
              <a:schemeClr val="tx1"/>
            </a:solidFill>
          </a:ln>
        </p:spPr>
        <p:txBody>
          <a:bodyPr>
            <a:normAutofit fontScale="55000" lnSpcReduction="20000"/>
          </a:bodyPr>
          <a:lstStyle/>
          <a:p>
            <a:pPr marL="0" indent="0">
              <a:buNone/>
            </a:pPr>
            <a:r>
              <a:rPr lang="en-US" dirty="0"/>
              <a:t>Setpoint = mapped sensor value;             </a:t>
            </a:r>
          </a:p>
          <a:p>
            <a:pPr marL="0" indent="0">
              <a:buNone/>
            </a:pPr>
            <a:r>
              <a:rPr lang="en-US" dirty="0"/>
              <a:t>Gain = constant;</a:t>
            </a:r>
          </a:p>
          <a:p>
            <a:pPr marL="0" indent="0">
              <a:buNone/>
            </a:pPr>
            <a:r>
              <a:rPr lang="en-US" dirty="0"/>
              <a:t>n = reading array size;</a:t>
            </a:r>
          </a:p>
          <a:p>
            <a:pPr marL="0" indent="0">
              <a:buNone/>
            </a:pPr>
            <a:r>
              <a:rPr lang="en-US" dirty="0" err="1"/>
              <a:t>i</a:t>
            </a:r>
            <a:r>
              <a:rPr lang="en-US" dirty="0"/>
              <a:t>=</a:t>
            </a:r>
            <a:r>
              <a:rPr lang="en-US" dirty="0" err="1"/>
              <a:t>i</a:t>
            </a:r>
            <a:r>
              <a:rPr lang="en-US" dirty="0"/>
              <a:t>++ ;</a:t>
            </a:r>
          </a:p>
          <a:p>
            <a:pPr marL="0" indent="0">
              <a:buNone/>
            </a:pPr>
            <a:r>
              <a:rPr lang="en-US" dirty="0"/>
              <a:t>if </a:t>
            </a:r>
            <a:r>
              <a:rPr lang="en-US" dirty="0" err="1"/>
              <a:t>i</a:t>
            </a:r>
            <a:r>
              <a:rPr lang="en-US" dirty="0"/>
              <a:t>&gt;=n{</a:t>
            </a:r>
          </a:p>
          <a:p>
            <a:pPr marL="0" indent="0">
              <a:buNone/>
            </a:pPr>
            <a:r>
              <a:rPr lang="en-US" dirty="0"/>
              <a:t>In time window, average sensor readings}</a:t>
            </a:r>
          </a:p>
          <a:p>
            <a:pPr marL="0" indent="0">
              <a:buNone/>
            </a:pPr>
            <a:r>
              <a:rPr lang="en-US" dirty="0"/>
              <a:t>Error = setpoint – averaged value;</a:t>
            </a:r>
          </a:p>
          <a:p>
            <a:pPr marL="0" indent="0">
              <a:buNone/>
            </a:pPr>
            <a:r>
              <a:rPr lang="en-US" dirty="0"/>
              <a:t>Output = error </a:t>
            </a:r>
            <a:r>
              <a:rPr lang="en-US"/>
              <a:t>* gain;</a:t>
            </a:r>
            <a:endParaRPr lang="en-US" dirty="0"/>
          </a:p>
          <a:p>
            <a:pPr marL="0" indent="0">
              <a:buNone/>
            </a:pPr>
            <a:r>
              <a:rPr lang="en-US" u="sng" dirty="0"/>
              <a:t>If</a:t>
            </a:r>
            <a:r>
              <a:rPr lang="en-US" dirty="0"/>
              <a:t> (output &lt;= 1*gain)</a:t>
            </a:r>
          </a:p>
          <a:p>
            <a:pPr marL="0" indent="0">
              <a:buNone/>
            </a:pPr>
            <a:r>
              <a:rPr lang="en-US" dirty="0"/>
              <a:t> % deadband for delay in activation  </a:t>
            </a:r>
          </a:p>
          <a:p>
            <a:pPr marL="0" indent="0">
              <a:buNone/>
            </a:pPr>
            <a:r>
              <a:rPr lang="en-US" dirty="0"/>
              <a:t>PWM = 0 </a:t>
            </a:r>
          </a:p>
          <a:p>
            <a:pPr marL="0" indent="0">
              <a:buNone/>
            </a:pPr>
            <a:r>
              <a:rPr lang="en-US" u="sng" dirty="0"/>
              <a:t>Else if </a:t>
            </a:r>
            <a:r>
              <a:rPr lang="en-US" dirty="0"/>
              <a:t>(output&gt;max desired capacity)</a:t>
            </a:r>
          </a:p>
          <a:p>
            <a:pPr marL="0" indent="0">
              <a:buNone/>
            </a:pPr>
            <a:r>
              <a:rPr lang="en-US" dirty="0"/>
              <a:t>PWM = max capacity</a:t>
            </a:r>
          </a:p>
          <a:p>
            <a:pPr marL="0" indent="0">
              <a:buNone/>
            </a:pPr>
            <a:r>
              <a:rPr lang="en-US" u="sng" dirty="0"/>
              <a:t>Else</a:t>
            </a:r>
            <a:endParaRPr lang="en-US" dirty="0"/>
          </a:p>
          <a:p>
            <a:pPr marL="0" indent="0">
              <a:buNone/>
            </a:pPr>
            <a:r>
              <a:rPr lang="en-US" dirty="0"/>
              <a:t>PWM=output</a:t>
            </a:r>
          </a:p>
          <a:p>
            <a:pPr marL="0" indent="0">
              <a:buNone/>
            </a:pPr>
            <a:r>
              <a:rPr lang="en-US" dirty="0"/>
              <a:t>Zero stored array and averaged value</a:t>
            </a:r>
          </a:p>
          <a:p>
            <a:pPr marL="0" indent="0">
              <a:buNone/>
            </a:pPr>
            <a:endParaRPr lang="en-US" dirty="0"/>
          </a:p>
        </p:txBody>
      </p:sp>
      <p:sp>
        <p:nvSpPr>
          <p:cNvPr id="4" name="Content Placeholder 3">
            <a:extLst>
              <a:ext uri="{FF2B5EF4-FFF2-40B4-BE49-F238E27FC236}">
                <a16:creationId xmlns:a16="http://schemas.microsoft.com/office/drawing/2014/main" id="{01C3D7B7-7C85-3628-475E-667A20FB0F71}"/>
              </a:ext>
            </a:extLst>
          </p:cNvPr>
          <p:cNvSpPr>
            <a:spLocks noGrp="1"/>
          </p:cNvSpPr>
          <p:nvPr>
            <p:ph sz="half" idx="2"/>
          </p:nvPr>
        </p:nvSpPr>
        <p:spPr/>
        <p:txBody>
          <a:bodyPr>
            <a:normAutofit fontScale="55000" lnSpcReduction="20000"/>
          </a:bodyPr>
          <a:lstStyle/>
          <a:p>
            <a:pPr marL="0" indent="0">
              <a:buNone/>
            </a:pPr>
            <a:r>
              <a:rPr lang="en-US" u="sng" dirty="0"/>
              <a:t>If</a:t>
            </a:r>
            <a:r>
              <a:rPr lang="en-US" dirty="0"/>
              <a:t> (output &lt;= 1*gain)</a:t>
            </a:r>
          </a:p>
          <a:p>
            <a:pPr marL="0" indent="0">
              <a:buNone/>
            </a:pPr>
            <a:r>
              <a:rPr lang="en-US" dirty="0"/>
              <a:t> % deadband for delay in activation  </a:t>
            </a:r>
          </a:p>
          <a:p>
            <a:pPr marL="0" indent="0">
              <a:buNone/>
            </a:pPr>
            <a:r>
              <a:rPr lang="en-US" dirty="0"/>
              <a:t>PWM = 0 </a:t>
            </a:r>
          </a:p>
          <a:p>
            <a:pPr marL="0" indent="0">
              <a:buNone/>
            </a:pPr>
            <a:r>
              <a:rPr lang="en-US" u="sng" dirty="0"/>
              <a:t>Else if </a:t>
            </a:r>
            <a:r>
              <a:rPr lang="en-US" dirty="0"/>
              <a:t>(output&gt;max desired capacity)</a:t>
            </a:r>
          </a:p>
          <a:p>
            <a:pPr marL="0" indent="0">
              <a:buNone/>
            </a:pPr>
            <a:r>
              <a:rPr lang="en-US" dirty="0"/>
              <a:t>PWM = max capacity</a:t>
            </a:r>
          </a:p>
          <a:p>
            <a:pPr marL="0" indent="0">
              <a:buNone/>
            </a:pPr>
            <a:r>
              <a:rPr lang="en-US" u="sng" dirty="0"/>
              <a:t>Else</a:t>
            </a:r>
            <a:endParaRPr lang="en-US" dirty="0"/>
          </a:p>
          <a:p>
            <a:pPr marL="0" indent="0">
              <a:buNone/>
            </a:pPr>
            <a:r>
              <a:rPr lang="en-US" dirty="0"/>
              <a:t>PWM=output</a:t>
            </a:r>
          </a:p>
          <a:p>
            <a:pPr marL="0" indent="0">
              <a:buNone/>
            </a:pPr>
            <a:r>
              <a:rPr lang="en-US" dirty="0"/>
              <a:t>Zero stored array and averaged value</a:t>
            </a:r>
          </a:p>
          <a:p>
            <a:pPr marL="0" indent="0">
              <a:buNone/>
            </a:pPr>
            <a:endParaRPr lang="en-GB" dirty="0"/>
          </a:p>
        </p:txBody>
      </p:sp>
      <p:sp>
        <p:nvSpPr>
          <p:cNvPr id="5" name="Oval 4">
            <a:extLst>
              <a:ext uri="{FF2B5EF4-FFF2-40B4-BE49-F238E27FC236}">
                <a16:creationId xmlns:a16="http://schemas.microsoft.com/office/drawing/2014/main" id="{B823B2DE-88DF-FAD9-9E26-68A2964736A4}"/>
              </a:ext>
            </a:extLst>
          </p:cNvPr>
          <p:cNvSpPr/>
          <p:nvPr/>
        </p:nvSpPr>
        <p:spPr>
          <a:xfrm>
            <a:off x="8392885" y="1858282"/>
            <a:ext cx="555171" cy="3918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0F0C448C-B2C6-F25A-1A2E-210A35D3DC31}"/>
              </a:ext>
            </a:extLst>
          </p:cNvPr>
          <p:cNvSpPr/>
          <p:nvPr/>
        </p:nvSpPr>
        <p:spPr>
          <a:xfrm>
            <a:off x="7282544" y="3805351"/>
            <a:ext cx="1894114" cy="3918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6201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3">
                                            <p:txEl>
                                              <p:pRg st="0" end="0"/>
                                            </p:txEl>
                                          </p:spTgt>
                                        </p:tgtEl>
                                        <p:attrNameLst>
                                          <p:attrName>style.color</p:attrName>
                                        </p:attrNameLst>
                                      </p:cBhvr>
                                      <p:to>
                                        <a:srgbClr val="D8D8D8"/>
                                      </p:to>
                                    </p:animClr>
                                    <p:animClr clrSpc="rgb" dir="cw">
                                      <p:cBhvr>
                                        <p:cTn id="7" dur="500" fill="hold"/>
                                        <p:tgtEl>
                                          <p:spTgt spid="3">
                                            <p:txEl>
                                              <p:pRg st="0" end="0"/>
                                            </p:txEl>
                                          </p:spTgt>
                                        </p:tgtEl>
                                        <p:attrNameLst>
                                          <p:attrName>fillcolor</p:attrName>
                                        </p:attrNameLst>
                                      </p:cBhvr>
                                      <p:to>
                                        <a:srgbClr val="D8D8D8"/>
                                      </p:to>
                                    </p:animClr>
                                    <p:set>
                                      <p:cBhvr>
                                        <p:cTn id="8" dur="500" fill="hold"/>
                                        <p:tgtEl>
                                          <p:spTgt spid="3">
                                            <p:txEl>
                                              <p:pRg st="0" end="0"/>
                                            </p:txEl>
                                          </p:spTgt>
                                        </p:tgtEl>
                                        <p:attrNameLst>
                                          <p:attrName>fill.type</p:attrName>
                                        </p:attrNameLst>
                                      </p:cBhvr>
                                      <p:to>
                                        <p:strVal val="solid"/>
                                      </p:to>
                                    </p:set>
                                    <p:set>
                                      <p:cBhvr>
                                        <p:cTn id="9" dur="500" fill="hold"/>
                                        <p:tgtEl>
                                          <p:spTgt spid="3">
                                            <p:txEl>
                                              <p:pRg st="0" end="0"/>
                                            </p:txEl>
                                          </p:spTgt>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3">
                                            <p:txEl>
                                              <p:pRg st="1" end="1"/>
                                            </p:txEl>
                                          </p:spTgt>
                                        </p:tgtEl>
                                        <p:attrNameLst>
                                          <p:attrName>style.color</p:attrName>
                                        </p:attrNameLst>
                                      </p:cBhvr>
                                      <p:to>
                                        <a:srgbClr val="D8D8D8"/>
                                      </p:to>
                                    </p:animClr>
                                    <p:animClr clrSpc="rgb" dir="cw">
                                      <p:cBhvr>
                                        <p:cTn id="12" dur="500" fill="hold"/>
                                        <p:tgtEl>
                                          <p:spTgt spid="3">
                                            <p:txEl>
                                              <p:pRg st="1" end="1"/>
                                            </p:txEl>
                                          </p:spTgt>
                                        </p:tgtEl>
                                        <p:attrNameLst>
                                          <p:attrName>fillcolor</p:attrName>
                                        </p:attrNameLst>
                                      </p:cBhvr>
                                      <p:to>
                                        <a:srgbClr val="D8D8D8"/>
                                      </p:to>
                                    </p:animClr>
                                    <p:set>
                                      <p:cBhvr>
                                        <p:cTn id="13" dur="500" fill="hold"/>
                                        <p:tgtEl>
                                          <p:spTgt spid="3">
                                            <p:txEl>
                                              <p:pRg st="1" end="1"/>
                                            </p:txEl>
                                          </p:spTgt>
                                        </p:tgtEl>
                                        <p:attrNameLst>
                                          <p:attrName>fill.type</p:attrName>
                                        </p:attrNameLst>
                                      </p:cBhvr>
                                      <p:to>
                                        <p:strVal val="solid"/>
                                      </p:to>
                                    </p:set>
                                    <p:set>
                                      <p:cBhvr>
                                        <p:cTn id="14" dur="500" fill="hold"/>
                                        <p:tgtEl>
                                          <p:spTgt spid="3">
                                            <p:txEl>
                                              <p:pRg st="1" end="1"/>
                                            </p:txEl>
                                          </p:spTgt>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grpId="0" nodeType="clickEffect">
                                  <p:stCondLst>
                                    <p:cond delay="0"/>
                                  </p:stCondLst>
                                  <p:childTnLst>
                                    <p:animClr clrSpc="rgb" dir="cw">
                                      <p:cBhvr override="childStyle">
                                        <p:cTn id="18" dur="500" fill="hold"/>
                                        <p:tgtEl>
                                          <p:spTgt spid="3">
                                            <p:txEl>
                                              <p:pRg st="2" end="2"/>
                                            </p:txEl>
                                          </p:spTgt>
                                        </p:tgtEl>
                                        <p:attrNameLst>
                                          <p:attrName>style.color</p:attrName>
                                        </p:attrNameLst>
                                      </p:cBhvr>
                                      <p:to>
                                        <a:srgbClr val="D8D8D8"/>
                                      </p:to>
                                    </p:animClr>
                                    <p:animClr clrSpc="rgb" dir="cw">
                                      <p:cBhvr>
                                        <p:cTn id="19" dur="500" fill="hold"/>
                                        <p:tgtEl>
                                          <p:spTgt spid="3">
                                            <p:txEl>
                                              <p:pRg st="2" end="2"/>
                                            </p:txEl>
                                          </p:spTgt>
                                        </p:tgtEl>
                                        <p:attrNameLst>
                                          <p:attrName>fillcolor</p:attrName>
                                        </p:attrNameLst>
                                      </p:cBhvr>
                                      <p:to>
                                        <a:srgbClr val="D8D8D8"/>
                                      </p:to>
                                    </p:animClr>
                                    <p:set>
                                      <p:cBhvr>
                                        <p:cTn id="20" dur="500" fill="hold"/>
                                        <p:tgtEl>
                                          <p:spTgt spid="3">
                                            <p:txEl>
                                              <p:pRg st="2" end="2"/>
                                            </p:txEl>
                                          </p:spTgt>
                                        </p:tgtEl>
                                        <p:attrNameLst>
                                          <p:attrName>fill.type</p:attrName>
                                        </p:attrNameLst>
                                      </p:cBhvr>
                                      <p:to>
                                        <p:strVal val="solid"/>
                                      </p:to>
                                    </p:set>
                                    <p:set>
                                      <p:cBhvr>
                                        <p:cTn id="21" dur="500" fill="hold"/>
                                        <p:tgtEl>
                                          <p:spTgt spid="3">
                                            <p:txEl>
                                              <p:pRg st="2" end="2"/>
                                            </p:txEl>
                                          </p:spTgt>
                                        </p:tgtEl>
                                        <p:attrNameLst>
                                          <p:attrName>fill.on</p:attrName>
                                        </p:attrNameLst>
                                      </p:cBhvr>
                                      <p:to>
                                        <p:strVal val="true"/>
                                      </p:to>
                                    </p:set>
                                  </p:childTnLst>
                                </p:cTn>
                              </p:par>
                              <p:par>
                                <p:cTn id="22" presetID="19" presetClass="emph" presetSubtype="0" fill="hold" grpId="0" nodeType="withEffect">
                                  <p:stCondLst>
                                    <p:cond delay="0"/>
                                  </p:stCondLst>
                                  <p:childTnLst>
                                    <p:animClr clrSpc="rgb" dir="cw">
                                      <p:cBhvr override="childStyle">
                                        <p:cTn id="23" dur="500" fill="hold"/>
                                        <p:tgtEl>
                                          <p:spTgt spid="3">
                                            <p:txEl>
                                              <p:pRg st="3" end="3"/>
                                            </p:txEl>
                                          </p:spTgt>
                                        </p:tgtEl>
                                        <p:attrNameLst>
                                          <p:attrName>style.color</p:attrName>
                                        </p:attrNameLst>
                                      </p:cBhvr>
                                      <p:to>
                                        <a:srgbClr val="D8D8D8"/>
                                      </p:to>
                                    </p:animClr>
                                    <p:animClr clrSpc="rgb" dir="cw">
                                      <p:cBhvr>
                                        <p:cTn id="24" dur="500" fill="hold"/>
                                        <p:tgtEl>
                                          <p:spTgt spid="3">
                                            <p:txEl>
                                              <p:pRg st="3" end="3"/>
                                            </p:txEl>
                                          </p:spTgt>
                                        </p:tgtEl>
                                        <p:attrNameLst>
                                          <p:attrName>fillcolor</p:attrName>
                                        </p:attrNameLst>
                                      </p:cBhvr>
                                      <p:to>
                                        <a:srgbClr val="D8D8D8"/>
                                      </p:to>
                                    </p:animClr>
                                    <p:set>
                                      <p:cBhvr>
                                        <p:cTn id="25" dur="500" fill="hold"/>
                                        <p:tgtEl>
                                          <p:spTgt spid="3">
                                            <p:txEl>
                                              <p:pRg st="3" end="3"/>
                                            </p:txEl>
                                          </p:spTgt>
                                        </p:tgtEl>
                                        <p:attrNameLst>
                                          <p:attrName>fill.type</p:attrName>
                                        </p:attrNameLst>
                                      </p:cBhvr>
                                      <p:to>
                                        <p:strVal val="solid"/>
                                      </p:to>
                                    </p:set>
                                    <p:set>
                                      <p:cBhvr>
                                        <p:cTn id="26" dur="500" fill="hold"/>
                                        <p:tgtEl>
                                          <p:spTgt spid="3">
                                            <p:txEl>
                                              <p:pRg st="3" end="3"/>
                                            </p:txEl>
                                          </p:spTgt>
                                        </p:tgtEl>
                                        <p:attrNameLst>
                                          <p:attrName>fill.on</p:attrName>
                                        </p:attrNameLst>
                                      </p:cBhvr>
                                      <p:to>
                                        <p:strVal val="true"/>
                                      </p:to>
                                    </p:set>
                                  </p:childTnLst>
                                </p:cTn>
                              </p:par>
                              <p:par>
                                <p:cTn id="27" presetID="19" presetClass="emph" presetSubtype="0" fill="hold" grpId="0" nodeType="withEffect">
                                  <p:stCondLst>
                                    <p:cond delay="0"/>
                                  </p:stCondLst>
                                  <p:childTnLst>
                                    <p:animClr clrSpc="rgb" dir="cw">
                                      <p:cBhvr override="childStyle">
                                        <p:cTn id="28" dur="500" fill="hold"/>
                                        <p:tgtEl>
                                          <p:spTgt spid="3">
                                            <p:txEl>
                                              <p:pRg st="4" end="4"/>
                                            </p:txEl>
                                          </p:spTgt>
                                        </p:tgtEl>
                                        <p:attrNameLst>
                                          <p:attrName>style.color</p:attrName>
                                        </p:attrNameLst>
                                      </p:cBhvr>
                                      <p:to>
                                        <a:srgbClr val="D8D8D8"/>
                                      </p:to>
                                    </p:animClr>
                                    <p:animClr clrSpc="rgb" dir="cw">
                                      <p:cBhvr>
                                        <p:cTn id="29" dur="500" fill="hold"/>
                                        <p:tgtEl>
                                          <p:spTgt spid="3">
                                            <p:txEl>
                                              <p:pRg st="4" end="4"/>
                                            </p:txEl>
                                          </p:spTgt>
                                        </p:tgtEl>
                                        <p:attrNameLst>
                                          <p:attrName>fillcolor</p:attrName>
                                        </p:attrNameLst>
                                      </p:cBhvr>
                                      <p:to>
                                        <a:srgbClr val="D8D8D8"/>
                                      </p:to>
                                    </p:animClr>
                                    <p:set>
                                      <p:cBhvr>
                                        <p:cTn id="30" dur="500" fill="hold"/>
                                        <p:tgtEl>
                                          <p:spTgt spid="3">
                                            <p:txEl>
                                              <p:pRg st="4" end="4"/>
                                            </p:txEl>
                                          </p:spTgt>
                                        </p:tgtEl>
                                        <p:attrNameLst>
                                          <p:attrName>fill.type</p:attrName>
                                        </p:attrNameLst>
                                      </p:cBhvr>
                                      <p:to>
                                        <p:strVal val="solid"/>
                                      </p:to>
                                    </p:set>
                                    <p:set>
                                      <p:cBhvr>
                                        <p:cTn id="31" dur="500" fill="hold"/>
                                        <p:tgtEl>
                                          <p:spTgt spid="3">
                                            <p:txEl>
                                              <p:pRg st="4" end="4"/>
                                            </p:txEl>
                                          </p:spTgt>
                                        </p:tgtEl>
                                        <p:attrNameLst>
                                          <p:attrName>fill.on</p:attrName>
                                        </p:attrNameLst>
                                      </p:cBhvr>
                                      <p:to>
                                        <p:strVal val="true"/>
                                      </p:to>
                                    </p:set>
                                  </p:childTnLst>
                                </p:cTn>
                              </p:par>
                              <p:par>
                                <p:cTn id="32" presetID="19" presetClass="emph" presetSubtype="0" fill="hold" grpId="0" nodeType="withEffect">
                                  <p:stCondLst>
                                    <p:cond delay="0"/>
                                  </p:stCondLst>
                                  <p:childTnLst>
                                    <p:animClr clrSpc="rgb" dir="cw">
                                      <p:cBhvr override="childStyle">
                                        <p:cTn id="33" dur="500" fill="hold"/>
                                        <p:tgtEl>
                                          <p:spTgt spid="3">
                                            <p:txEl>
                                              <p:pRg st="5" end="5"/>
                                            </p:txEl>
                                          </p:spTgt>
                                        </p:tgtEl>
                                        <p:attrNameLst>
                                          <p:attrName>style.color</p:attrName>
                                        </p:attrNameLst>
                                      </p:cBhvr>
                                      <p:to>
                                        <a:srgbClr val="D8D8D8"/>
                                      </p:to>
                                    </p:animClr>
                                    <p:animClr clrSpc="rgb" dir="cw">
                                      <p:cBhvr>
                                        <p:cTn id="34" dur="500" fill="hold"/>
                                        <p:tgtEl>
                                          <p:spTgt spid="3">
                                            <p:txEl>
                                              <p:pRg st="5" end="5"/>
                                            </p:txEl>
                                          </p:spTgt>
                                        </p:tgtEl>
                                        <p:attrNameLst>
                                          <p:attrName>fillcolor</p:attrName>
                                        </p:attrNameLst>
                                      </p:cBhvr>
                                      <p:to>
                                        <a:srgbClr val="D8D8D8"/>
                                      </p:to>
                                    </p:animClr>
                                    <p:set>
                                      <p:cBhvr>
                                        <p:cTn id="35" dur="500" fill="hold"/>
                                        <p:tgtEl>
                                          <p:spTgt spid="3">
                                            <p:txEl>
                                              <p:pRg st="5" end="5"/>
                                            </p:txEl>
                                          </p:spTgt>
                                        </p:tgtEl>
                                        <p:attrNameLst>
                                          <p:attrName>fill.type</p:attrName>
                                        </p:attrNameLst>
                                      </p:cBhvr>
                                      <p:to>
                                        <p:strVal val="solid"/>
                                      </p:to>
                                    </p:set>
                                    <p:set>
                                      <p:cBhvr>
                                        <p:cTn id="36" dur="500" fill="hold"/>
                                        <p:tgtEl>
                                          <p:spTgt spid="3">
                                            <p:txEl>
                                              <p:pRg st="5" end="5"/>
                                            </p:txEl>
                                          </p:spTgt>
                                        </p:tgtEl>
                                        <p:attrNameLst>
                                          <p:attrName>fill.on</p:attrName>
                                        </p:attrNameLst>
                                      </p:cBhvr>
                                      <p:to>
                                        <p:strVal val="true"/>
                                      </p:to>
                                    </p:set>
                                  </p:childTnLst>
                                </p:cTn>
                              </p:par>
                              <p:par>
                                <p:cTn id="37" presetID="19" presetClass="emph" presetSubtype="0" fill="hold" grpId="0" nodeType="withEffect">
                                  <p:stCondLst>
                                    <p:cond delay="0"/>
                                  </p:stCondLst>
                                  <p:childTnLst>
                                    <p:animClr clrSpc="rgb" dir="cw">
                                      <p:cBhvr override="childStyle">
                                        <p:cTn id="38" dur="500" fill="hold"/>
                                        <p:tgtEl>
                                          <p:spTgt spid="3">
                                            <p:txEl>
                                              <p:pRg st="6" end="6"/>
                                            </p:txEl>
                                          </p:spTgt>
                                        </p:tgtEl>
                                        <p:attrNameLst>
                                          <p:attrName>style.color</p:attrName>
                                        </p:attrNameLst>
                                      </p:cBhvr>
                                      <p:to>
                                        <a:srgbClr val="D8D8D8"/>
                                      </p:to>
                                    </p:animClr>
                                    <p:animClr clrSpc="rgb" dir="cw">
                                      <p:cBhvr>
                                        <p:cTn id="39" dur="500" fill="hold"/>
                                        <p:tgtEl>
                                          <p:spTgt spid="3">
                                            <p:txEl>
                                              <p:pRg st="6" end="6"/>
                                            </p:txEl>
                                          </p:spTgt>
                                        </p:tgtEl>
                                        <p:attrNameLst>
                                          <p:attrName>fillcolor</p:attrName>
                                        </p:attrNameLst>
                                      </p:cBhvr>
                                      <p:to>
                                        <a:srgbClr val="D8D8D8"/>
                                      </p:to>
                                    </p:animClr>
                                    <p:set>
                                      <p:cBhvr>
                                        <p:cTn id="40" dur="500" fill="hold"/>
                                        <p:tgtEl>
                                          <p:spTgt spid="3">
                                            <p:txEl>
                                              <p:pRg st="6" end="6"/>
                                            </p:txEl>
                                          </p:spTgt>
                                        </p:tgtEl>
                                        <p:attrNameLst>
                                          <p:attrName>fill.type</p:attrName>
                                        </p:attrNameLst>
                                      </p:cBhvr>
                                      <p:to>
                                        <p:strVal val="solid"/>
                                      </p:to>
                                    </p:set>
                                    <p:set>
                                      <p:cBhvr>
                                        <p:cTn id="41" dur="500" fill="hold"/>
                                        <p:tgtEl>
                                          <p:spTgt spid="3">
                                            <p:txEl>
                                              <p:pRg st="6" end="6"/>
                                            </p:txEl>
                                          </p:spTgt>
                                        </p:tgtEl>
                                        <p:attrNameLst>
                                          <p:attrName>fill.on</p:attrName>
                                        </p:attrNameLst>
                                      </p:cBhvr>
                                      <p:to>
                                        <p:strVal val="true"/>
                                      </p:to>
                                    </p:set>
                                  </p:childTnLst>
                                </p:cTn>
                              </p:par>
                              <p:par>
                                <p:cTn id="42" presetID="19" presetClass="emph" presetSubtype="0" fill="hold" grpId="0" nodeType="withEffect">
                                  <p:stCondLst>
                                    <p:cond delay="0"/>
                                  </p:stCondLst>
                                  <p:childTnLst>
                                    <p:animClr clrSpc="rgb" dir="cw">
                                      <p:cBhvr override="childStyle">
                                        <p:cTn id="43" dur="500" fill="hold"/>
                                        <p:tgtEl>
                                          <p:spTgt spid="3">
                                            <p:txEl>
                                              <p:pRg st="7" end="7"/>
                                            </p:txEl>
                                          </p:spTgt>
                                        </p:tgtEl>
                                        <p:attrNameLst>
                                          <p:attrName>style.color</p:attrName>
                                        </p:attrNameLst>
                                      </p:cBhvr>
                                      <p:to>
                                        <a:srgbClr val="D8D8D8"/>
                                      </p:to>
                                    </p:animClr>
                                    <p:animClr clrSpc="rgb" dir="cw">
                                      <p:cBhvr>
                                        <p:cTn id="44" dur="500" fill="hold"/>
                                        <p:tgtEl>
                                          <p:spTgt spid="3">
                                            <p:txEl>
                                              <p:pRg st="7" end="7"/>
                                            </p:txEl>
                                          </p:spTgt>
                                        </p:tgtEl>
                                        <p:attrNameLst>
                                          <p:attrName>fillcolor</p:attrName>
                                        </p:attrNameLst>
                                      </p:cBhvr>
                                      <p:to>
                                        <a:srgbClr val="D8D8D8"/>
                                      </p:to>
                                    </p:animClr>
                                    <p:set>
                                      <p:cBhvr>
                                        <p:cTn id="45" dur="500" fill="hold"/>
                                        <p:tgtEl>
                                          <p:spTgt spid="3">
                                            <p:txEl>
                                              <p:pRg st="7" end="7"/>
                                            </p:txEl>
                                          </p:spTgt>
                                        </p:tgtEl>
                                        <p:attrNameLst>
                                          <p:attrName>fill.type</p:attrName>
                                        </p:attrNameLst>
                                      </p:cBhvr>
                                      <p:to>
                                        <p:strVal val="solid"/>
                                      </p:to>
                                    </p:set>
                                    <p:set>
                                      <p:cBhvr>
                                        <p:cTn id="46" dur="500" fill="hold"/>
                                        <p:tgtEl>
                                          <p:spTgt spid="3">
                                            <p:txEl>
                                              <p:pRg st="7" end="7"/>
                                            </p:txEl>
                                          </p:spTgt>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9" presetClass="emph" presetSubtype="0" fill="hold" grpId="0" nodeType="clickEffect">
                                  <p:stCondLst>
                                    <p:cond delay="0"/>
                                  </p:stCondLst>
                                  <p:childTnLst>
                                    <p:animClr clrSpc="rgb" dir="cw">
                                      <p:cBhvr override="childStyle">
                                        <p:cTn id="50" dur="500" fill="hold"/>
                                        <p:tgtEl>
                                          <p:spTgt spid="3">
                                            <p:txEl>
                                              <p:pRg st="8" end="8"/>
                                            </p:txEl>
                                          </p:spTgt>
                                        </p:tgtEl>
                                        <p:attrNameLst>
                                          <p:attrName>style.color</p:attrName>
                                        </p:attrNameLst>
                                      </p:cBhvr>
                                      <p:to>
                                        <a:srgbClr val="D8D8D8"/>
                                      </p:to>
                                    </p:animClr>
                                    <p:animClr clrSpc="rgb" dir="cw">
                                      <p:cBhvr>
                                        <p:cTn id="51" dur="500" fill="hold"/>
                                        <p:tgtEl>
                                          <p:spTgt spid="3">
                                            <p:txEl>
                                              <p:pRg st="8" end="8"/>
                                            </p:txEl>
                                          </p:spTgt>
                                        </p:tgtEl>
                                        <p:attrNameLst>
                                          <p:attrName>fillcolor</p:attrName>
                                        </p:attrNameLst>
                                      </p:cBhvr>
                                      <p:to>
                                        <a:srgbClr val="D8D8D8"/>
                                      </p:to>
                                    </p:animClr>
                                    <p:set>
                                      <p:cBhvr>
                                        <p:cTn id="52" dur="500" fill="hold"/>
                                        <p:tgtEl>
                                          <p:spTgt spid="3">
                                            <p:txEl>
                                              <p:pRg st="8" end="8"/>
                                            </p:txEl>
                                          </p:spTgt>
                                        </p:tgtEl>
                                        <p:attrNameLst>
                                          <p:attrName>fill.type</p:attrName>
                                        </p:attrNameLst>
                                      </p:cBhvr>
                                      <p:to>
                                        <p:strVal val="solid"/>
                                      </p:to>
                                    </p:set>
                                    <p:set>
                                      <p:cBhvr>
                                        <p:cTn id="53" dur="500" fill="hold"/>
                                        <p:tgtEl>
                                          <p:spTgt spid="3">
                                            <p:txEl>
                                              <p:pRg st="8" end="8"/>
                                            </p:txEl>
                                          </p:spTgt>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19" presetClass="emph" presetSubtype="0" fill="hold" grpId="0" nodeType="clickEffect">
                                  <p:stCondLst>
                                    <p:cond delay="0"/>
                                  </p:stCondLst>
                                  <p:childTnLst>
                                    <p:animClr clrSpc="rgb" dir="cw">
                                      <p:cBhvr override="childStyle">
                                        <p:cTn id="57" dur="500" fill="hold"/>
                                        <p:tgtEl>
                                          <p:spTgt spid="3">
                                            <p:txEl>
                                              <p:pRg st="9" end="9"/>
                                            </p:txEl>
                                          </p:spTgt>
                                        </p:tgtEl>
                                        <p:attrNameLst>
                                          <p:attrName>style.color</p:attrName>
                                        </p:attrNameLst>
                                      </p:cBhvr>
                                      <p:to>
                                        <a:srgbClr val="D8D8D8"/>
                                      </p:to>
                                    </p:animClr>
                                    <p:animClr clrSpc="rgb" dir="cw">
                                      <p:cBhvr>
                                        <p:cTn id="58" dur="500" fill="hold"/>
                                        <p:tgtEl>
                                          <p:spTgt spid="3">
                                            <p:txEl>
                                              <p:pRg st="9" end="9"/>
                                            </p:txEl>
                                          </p:spTgt>
                                        </p:tgtEl>
                                        <p:attrNameLst>
                                          <p:attrName>fillcolor</p:attrName>
                                        </p:attrNameLst>
                                      </p:cBhvr>
                                      <p:to>
                                        <a:srgbClr val="D8D8D8"/>
                                      </p:to>
                                    </p:animClr>
                                    <p:set>
                                      <p:cBhvr>
                                        <p:cTn id="59" dur="500" fill="hold"/>
                                        <p:tgtEl>
                                          <p:spTgt spid="3">
                                            <p:txEl>
                                              <p:pRg st="9" end="9"/>
                                            </p:txEl>
                                          </p:spTgt>
                                        </p:tgtEl>
                                        <p:attrNameLst>
                                          <p:attrName>fill.type</p:attrName>
                                        </p:attrNameLst>
                                      </p:cBhvr>
                                      <p:to>
                                        <p:strVal val="solid"/>
                                      </p:to>
                                    </p:set>
                                    <p:set>
                                      <p:cBhvr>
                                        <p:cTn id="60" dur="500" fill="hold"/>
                                        <p:tgtEl>
                                          <p:spTgt spid="3">
                                            <p:txEl>
                                              <p:pRg st="9" end="9"/>
                                            </p:txEl>
                                          </p:spTgt>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9" presetClass="emph" presetSubtype="0" fill="hold" grpId="0" nodeType="clickEffect">
                                  <p:stCondLst>
                                    <p:cond delay="0"/>
                                  </p:stCondLst>
                                  <p:childTnLst>
                                    <p:animClr clrSpc="rgb" dir="cw">
                                      <p:cBhvr override="childStyle">
                                        <p:cTn id="64" dur="500" fill="hold"/>
                                        <p:tgtEl>
                                          <p:spTgt spid="3">
                                            <p:txEl>
                                              <p:pRg st="10" end="10"/>
                                            </p:txEl>
                                          </p:spTgt>
                                        </p:tgtEl>
                                        <p:attrNameLst>
                                          <p:attrName>style.color</p:attrName>
                                        </p:attrNameLst>
                                      </p:cBhvr>
                                      <p:to>
                                        <a:srgbClr val="D8D8D8"/>
                                      </p:to>
                                    </p:animClr>
                                    <p:animClr clrSpc="rgb" dir="cw">
                                      <p:cBhvr>
                                        <p:cTn id="65" dur="500" fill="hold"/>
                                        <p:tgtEl>
                                          <p:spTgt spid="3">
                                            <p:txEl>
                                              <p:pRg st="10" end="10"/>
                                            </p:txEl>
                                          </p:spTgt>
                                        </p:tgtEl>
                                        <p:attrNameLst>
                                          <p:attrName>fillcolor</p:attrName>
                                        </p:attrNameLst>
                                      </p:cBhvr>
                                      <p:to>
                                        <a:srgbClr val="D8D8D8"/>
                                      </p:to>
                                    </p:animClr>
                                    <p:set>
                                      <p:cBhvr>
                                        <p:cTn id="66" dur="500" fill="hold"/>
                                        <p:tgtEl>
                                          <p:spTgt spid="3">
                                            <p:txEl>
                                              <p:pRg st="10" end="10"/>
                                            </p:txEl>
                                          </p:spTgt>
                                        </p:tgtEl>
                                        <p:attrNameLst>
                                          <p:attrName>fill.type</p:attrName>
                                        </p:attrNameLst>
                                      </p:cBhvr>
                                      <p:to>
                                        <p:strVal val="solid"/>
                                      </p:to>
                                    </p:set>
                                    <p:set>
                                      <p:cBhvr>
                                        <p:cTn id="67" dur="500" fill="hold"/>
                                        <p:tgtEl>
                                          <p:spTgt spid="3">
                                            <p:txEl>
                                              <p:pRg st="10" end="10"/>
                                            </p:txEl>
                                          </p:spTgt>
                                        </p:tgtEl>
                                        <p:attrNameLst>
                                          <p:attrName>fill.on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19" presetClass="emph" presetSubtype="0" fill="hold" grpId="0" nodeType="clickEffect">
                                  <p:stCondLst>
                                    <p:cond delay="0"/>
                                  </p:stCondLst>
                                  <p:childTnLst>
                                    <p:animClr clrSpc="rgb" dir="cw">
                                      <p:cBhvr override="childStyle">
                                        <p:cTn id="71" dur="500" fill="hold"/>
                                        <p:tgtEl>
                                          <p:spTgt spid="3">
                                            <p:txEl>
                                              <p:pRg st="11" end="11"/>
                                            </p:txEl>
                                          </p:spTgt>
                                        </p:tgtEl>
                                        <p:attrNameLst>
                                          <p:attrName>style.color</p:attrName>
                                        </p:attrNameLst>
                                      </p:cBhvr>
                                      <p:to>
                                        <a:srgbClr val="D8D8D8"/>
                                      </p:to>
                                    </p:animClr>
                                    <p:animClr clrSpc="rgb" dir="cw">
                                      <p:cBhvr>
                                        <p:cTn id="72" dur="500" fill="hold"/>
                                        <p:tgtEl>
                                          <p:spTgt spid="3">
                                            <p:txEl>
                                              <p:pRg st="11" end="11"/>
                                            </p:txEl>
                                          </p:spTgt>
                                        </p:tgtEl>
                                        <p:attrNameLst>
                                          <p:attrName>fillcolor</p:attrName>
                                        </p:attrNameLst>
                                      </p:cBhvr>
                                      <p:to>
                                        <a:srgbClr val="D8D8D8"/>
                                      </p:to>
                                    </p:animClr>
                                    <p:set>
                                      <p:cBhvr>
                                        <p:cTn id="73" dur="500" fill="hold"/>
                                        <p:tgtEl>
                                          <p:spTgt spid="3">
                                            <p:txEl>
                                              <p:pRg st="11" end="11"/>
                                            </p:txEl>
                                          </p:spTgt>
                                        </p:tgtEl>
                                        <p:attrNameLst>
                                          <p:attrName>fill.type</p:attrName>
                                        </p:attrNameLst>
                                      </p:cBhvr>
                                      <p:to>
                                        <p:strVal val="solid"/>
                                      </p:to>
                                    </p:set>
                                    <p:set>
                                      <p:cBhvr>
                                        <p:cTn id="74" dur="500" fill="hold"/>
                                        <p:tgtEl>
                                          <p:spTgt spid="3">
                                            <p:txEl>
                                              <p:pRg st="11" end="11"/>
                                            </p:txEl>
                                          </p:spTgt>
                                        </p:tgtEl>
                                        <p:attrNameLst>
                                          <p:attrName>fill.on</p:attrName>
                                        </p:attrNameLst>
                                      </p:cBhvr>
                                      <p:to>
                                        <p:strVal val="true"/>
                                      </p:to>
                                    </p:set>
                                  </p:childTnLst>
                                </p:cTn>
                              </p:par>
                            </p:childTnLst>
                          </p:cTn>
                        </p:par>
                      </p:childTnLst>
                    </p:cTn>
                  </p:par>
                  <p:par>
                    <p:cTn id="75" fill="hold">
                      <p:stCondLst>
                        <p:cond delay="indefinite"/>
                      </p:stCondLst>
                      <p:childTnLst>
                        <p:par>
                          <p:cTn id="76" fill="hold">
                            <p:stCondLst>
                              <p:cond delay="0"/>
                            </p:stCondLst>
                            <p:childTnLst>
                              <p:par>
                                <p:cTn id="77" presetID="19" presetClass="emph" presetSubtype="0" fill="hold" grpId="0" nodeType="clickEffect">
                                  <p:stCondLst>
                                    <p:cond delay="0"/>
                                  </p:stCondLst>
                                  <p:childTnLst>
                                    <p:animClr clrSpc="rgb" dir="cw">
                                      <p:cBhvr override="childStyle">
                                        <p:cTn id="78" dur="500" fill="hold"/>
                                        <p:tgtEl>
                                          <p:spTgt spid="3">
                                            <p:txEl>
                                              <p:pRg st="12" end="12"/>
                                            </p:txEl>
                                          </p:spTgt>
                                        </p:tgtEl>
                                        <p:attrNameLst>
                                          <p:attrName>style.color</p:attrName>
                                        </p:attrNameLst>
                                      </p:cBhvr>
                                      <p:to>
                                        <a:srgbClr val="D8D8D8"/>
                                      </p:to>
                                    </p:animClr>
                                    <p:animClr clrSpc="rgb" dir="cw">
                                      <p:cBhvr>
                                        <p:cTn id="79" dur="500" fill="hold"/>
                                        <p:tgtEl>
                                          <p:spTgt spid="3">
                                            <p:txEl>
                                              <p:pRg st="12" end="12"/>
                                            </p:txEl>
                                          </p:spTgt>
                                        </p:tgtEl>
                                        <p:attrNameLst>
                                          <p:attrName>fillcolor</p:attrName>
                                        </p:attrNameLst>
                                      </p:cBhvr>
                                      <p:to>
                                        <a:srgbClr val="D8D8D8"/>
                                      </p:to>
                                    </p:animClr>
                                    <p:set>
                                      <p:cBhvr>
                                        <p:cTn id="80" dur="500" fill="hold"/>
                                        <p:tgtEl>
                                          <p:spTgt spid="3">
                                            <p:txEl>
                                              <p:pRg st="12" end="12"/>
                                            </p:txEl>
                                          </p:spTgt>
                                        </p:tgtEl>
                                        <p:attrNameLst>
                                          <p:attrName>fill.type</p:attrName>
                                        </p:attrNameLst>
                                      </p:cBhvr>
                                      <p:to>
                                        <p:strVal val="solid"/>
                                      </p:to>
                                    </p:set>
                                    <p:set>
                                      <p:cBhvr>
                                        <p:cTn id="81" dur="500" fill="hold"/>
                                        <p:tgtEl>
                                          <p:spTgt spid="3">
                                            <p:txEl>
                                              <p:pRg st="12" end="12"/>
                                            </p:txEl>
                                          </p:spTgt>
                                        </p:tgtEl>
                                        <p:attrNameLst>
                                          <p:attrName>fill.on</p:attrName>
                                        </p:attrNameLst>
                                      </p:cBhvr>
                                      <p:to>
                                        <p:strVal val="true"/>
                                      </p:to>
                                    </p:set>
                                  </p:childTnLst>
                                </p:cTn>
                              </p:par>
                            </p:childTnLst>
                          </p:cTn>
                        </p:par>
                      </p:childTnLst>
                    </p:cTn>
                  </p:par>
                  <p:par>
                    <p:cTn id="82" fill="hold">
                      <p:stCondLst>
                        <p:cond delay="indefinite"/>
                      </p:stCondLst>
                      <p:childTnLst>
                        <p:par>
                          <p:cTn id="83" fill="hold">
                            <p:stCondLst>
                              <p:cond delay="0"/>
                            </p:stCondLst>
                            <p:childTnLst>
                              <p:par>
                                <p:cTn id="84" presetID="19" presetClass="emph" presetSubtype="0" fill="hold" grpId="0" nodeType="clickEffect">
                                  <p:stCondLst>
                                    <p:cond delay="0"/>
                                  </p:stCondLst>
                                  <p:childTnLst>
                                    <p:animClr clrSpc="rgb" dir="cw">
                                      <p:cBhvr override="childStyle">
                                        <p:cTn id="85" dur="500" fill="hold"/>
                                        <p:tgtEl>
                                          <p:spTgt spid="3">
                                            <p:txEl>
                                              <p:pRg st="13" end="13"/>
                                            </p:txEl>
                                          </p:spTgt>
                                        </p:tgtEl>
                                        <p:attrNameLst>
                                          <p:attrName>style.color</p:attrName>
                                        </p:attrNameLst>
                                      </p:cBhvr>
                                      <p:to>
                                        <a:srgbClr val="D8D8D8"/>
                                      </p:to>
                                    </p:animClr>
                                    <p:animClr clrSpc="rgb" dir="cw">
                                      <p:cBhvr>
                                        <p:cTn id="86" dur="500" fill="hold"/>
                                        <p:tgtEl>
                                          <p:spTgt spid="3">
                                            <p:txEl>
                                              <p:pRg st="13" end="13"/>
                                            </p:txEl>
                                          </p:spTgt>
                                        </p:tgtEl>
                                        <p:attrNameLst>
                                          <p:attrName>fillcolor</p:attrName>
                                        </p:attrNameLst>
                                      </p:cBhvr>
                                      <p:to>
                                        <a:srgbClr val="D8D8D8"/>
                                      </p:to>
                                    </p:animClr>
                                    <p:set>
                                      <p:cBhvr>
                                        <p:cTn id="87" dur="500" fill="hold"/>
                                        <p:tgtEl>
                                          <p:spTgt spid="3">
                                            <p:txEl>
                                              <p:pRg st="13" end="13"/>
                                            </p:txEl>
                                          </p:spTgt>
                                        </p:tgtEl>
                                        <p:attrNameLst>
                                          <p:attrName>fill.type</p:attrName>
                                        </p:attrNameLst>
                                      </p:cBhvr>
                                      <p:to>
                                        <p:strVal val="solid"/>
                                      </p:to>
                                    </p:set>
                                    <p:set>
                                      <p:cBhvr>
                                        <p:cTn id="88" dur="500" fill="hold"/>
                                        <p:tgtEl>
                                          <p:spTgt spid="3">
                                            <p:txEl>
                                              <p:pRg st="13" end="13"/>
                                            </p:txEl>
                                          </p:spTgt>
                                        </p:tgtEl>
                                        <p:attrNameLst>
                                          <p:attrName>fill.on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19" presetClass="emph" presetSubtype="0" fill="hold" grpId="0" nodeType="clickEffect">
                                  <p:stCondLst>
                                    <p:cond delay="0"/>
                                  </p:stCondLst>
                                  <p:childTnLst>
                                    <p:animClr clrSpc="rgb" dir="cw">
                                      <p:cBhvr override="childStyle">
                                        <p:cTn id="92" dur="500" fill="hold"/>
                                        <p:tgtEl>
                                          <p:spTgt spid="3">
                                            <p:txEl>
                                              <p:pRg st="14" end="14"/>
                                            </p:txEl>
                                          </p:spTgt>
                                        </p:tgtEl>
                                        <p:attrNameLst>
                                          <p:attrName>style.color</p:attrName>
                                        </p:attrNameLst>
                                      </p:cBhvr>
                                      <p:to>
                                        <a:srgbClr val="D8D8D8"/>
                                      </p:to>
                                    </p:animClr>
                                    <p:animClr clrSpc="rgb" dir="cw">
                                      <p:cBhvr>
                                        <p:cTn id="93" dur="500" fill="hold"/>
                                        <p:tgtEl>
                                          <p:spTgt spid="3">
                                            <p:txEl>
                                              <p:pRg st="14" end="14"/>
                                            </p:txEl>
                                          </p:spTgt>
                                        </p:tgtEl>
                                        <p:attrNameLst>
                                          <p:attrName>fillcolor</p:attrName>
                                        </p:attrNameLst>
                                      </p:cBhvr>
                                      <p:to>
                                        <a:srgbClr val="D8D8D8"/>
                                      </p:to>
                                    </p:animClr>
                                    <p:set>
                                      <p:cBhvr>
                                        <p:cTn id="94" dur="500" fill="hold"/>
                                        <p:tgtEl>
                                          <p:spTgt spid="3">
                                            <p:txEl>
                                              <p:pRg st="14" end="14"/>
                                            </p:txEl>
                                          </p:spTgt>
                                        </p:tgtEl>
                                        <p:attrNameLst>
                                          <p:attrName>fill.type</p:attrName>
                                        </p:attrNameLst>
                                      </p:cBhvr>
                                      <p:to>
                                        <p:strVal val="solid"/>
                                      </p:to>
                                    </p:set>
                                    <p:set>
                                      <p:cBhvr>
                                        <p:cTn id="95" dur="500" fill="hold"/>
                                        <p:tgtEl>
                                          <p:spTgt spid="3">
                                            <p:txEl>
                                              <p:pRg st="14" end="14"/>
                                            </p:txEl>
                                          </p:spTgt>
                                        </p:tgtEl>
                                        <p:attrNameLst>
                                          <p:attrName>fill.on</p:attrName>
                                        </p:attrNameLst>
                                      </p:cBhvr>
                                      <p:to>
                                        <p:strVal val="true"/>
                                      </p:to>
                                    </p:set>
                                  </p:childTnLst>
                                </p:cTn>
                              </p:par>
                            </p:childTnLst>
                          </p:cTn>
                        </p:par>
                      </p:childTnLst>
                    </p:cTn>
                  </p:par>
                  <p:par>
                    <p:cTn id="96" fill="hold">
                      <p:stCondLst>
                        <p:cond delay="indefinite"/>
                      </p:stCondLst>
                      <p:childTnLst>
                        <p:par>
                          <p:cTn id="97" fill="hold">
                            <p:stCondLst>
                              <p:cond delay="0"/>
                            </p:stCondLst>
                            <p:childTnLst>
                              <p:par>
                                <p:cTn id="98" presetID="19" presetClass="emph" presetSubtype="0" fill="hold" grpId="0" nodeType="clickEffect">
                                  <p:stCondLst>
                                    <p:cond delay="0"/>
                                  </p:stCondLst>
                                  <p:childTnLst>
                                    <p:animClr clrSpc="rgb" dir="cw">
                                      <p:cBhvr override="childStyle">
                                        <p:cTn id="99" dur="500" fill="hold"/>
                                        <p:tgtEl>
                                          <p:spTgt spid="3">
                                            <p:txEl>
                                              <p:pRg st="15" end="15"/>
                                            </p:txEl>
                                          </p:spTgt>
                                        </p:tgtEl>
                                        <p:attrNameLst>
                                          <p:attrName>style.color</p:attrName>
                                        </p:attrNameLst>
                                      </p:cBhvr>
                                      <p:to>
                                        <a:srgbClr val="D8D8D8"/>
                                      </p:to>
                                    </p:animClr>
                                    <p:animClr clrSpc="rgb" dir="cw">
                                      <p:cBhvr>
                                        <p:cTn id="100" dur="500" fill="hold"/>
                                        <p:tgtEl>
                                          <p:spTgt spid="3">
                                            <p:txEl>
                                              <p:pRg st="15" end="15"/>
                                            </p:txEl>
                                          </p:spTgt>
                                        </p:tgtEl>
                                        <p:attrNameLst>
                                          <p:attrName>fillcolor</p:attrName>
                                        </p:attrNameLst>
                                      </p:cBhvr>
                                      <p:to>
                                        <a:srgbClr val="D8D8D8"/>
                                      </p:to>
                                    </p:animClr>
                                    <p:set>
                                      <p:cBhvr>
                                        <p:cTn id="101" dur="500" fill="hold"/>
                                        <p:tgtEl>
                                          <p:spTgt spid="3">
                                            <p:txEl>
                                              <p:pRg st="15" end="15"/>
                                            </p:txEl>
                                          </p:spTgt>
                                        </p:tgtEl>
                                        <p:attrNameLst>
                                          <p:attrName>fill.type</p:attrName>
                                        </p:attrNameLst>
                                      </p:cBhvr>
                                      <p:to>
                                        <p:strVal val="solid"/>
                                      </p:to>
                                    </p:set>
                                    <p:set>
                                      <p:cBhvr>
                                        <p:cTn id="102" dur="500" fill="hold"/>
                                        <p:tgtEl>
                                          <p:spTgt spid="3">
                                            <p:txEl>
                                              <p:pRg st="15" end="15"/>
                                            </p:txEl>
                                          </p:spTgt>
                                        </p:tgtEl>
                                        <p:attrNameLst>
                                          <p:attrName>fill.on</p:attrName>
                                        </p:attrNameLst>
                                      </p:cBhvr>
                                      <p:to>
                                        <p:strVal val="true"/>
                                      </p:to>
                                    </p:se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6"/>
                                        </p:tgtEl>
                                        <p:attrNameLst>
                                          <p:attrName>style.visibility</p:attrName>
                                        </p:attrNameLst>
                                      </p:cBhvr>
                                      <p:to>
                                        <p:strVal val="visible"/>
                                      </p:to>
                                    </p:set>
                                    <p:anim calcmode="lin" valueType="num">
                                      <p:cBhvr additive="base">
                                        <p:cTn id="107" dur="500" fill="hold"/>
                                        <p:tgtEl>
                                          <p:spTgt spid="6"/>
                                        </p:tgtEl>
                                        <p:attrNameLst>
                                          <p:attrName>ppt_x</p:attrName>
                                        </p:attrNameLst>
                                      </p:cBhvr>
                                      <p:tavLst>
                                        <p:tav tm="0">
                                          <p:val>
                                            <p:strVal val="#ppt_x"/>
                                          </p:val>
                                        </p:tav>
                                        <p:tav tm="100000">
                                          <p:val>
                                            <p:strVal val="#ppt_x"/>
                                          </p:val>
                                        </p:tav>
                                      </p:tavLst>
                                    </p:anim>
                                    <p:anim calcmode="lin" valueType="num">
                                      <p:cBhvr additive="base">
                                        <p:cTn id="108" dur="500" fill="hold"/>
                                        <p:tgtEl>
                                          <p:spTgt spid="6"/>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5"/>
                                        </p:tgtEl>
                                        <p:attrNameLst>
                                          <p:attrName>style.visibility</p:attrName>
                                        </p:attrNameLst>
                                      </p:cBhvr>
                                      <p:to>
                                        <p:strVal val="visible"/>
                                      </p:to>
                                    </p:set>
                                    <p:anim calcmode="lin" valueType="num">
                                      <p:cBhvr additive="base">
                                        <p:cTn id="111" dur="500" fill="hold"/>
                                        <p:tgtEl>
                                          <p:spTgt spid="5"/>
                                        </p:tgtEl>
                                        <p:attrNameLst>
                                          <p:attrName>ppt_x</p:attrName>
                                        </p:attrNameLst>
                                      </p:cBhvr>
                                      <p:tavLst>
                                        <p:tav tm="0">
                                          <p:val>
                                            <p:strVal val="#ppt_x"/>
                                          </p:val>
                                        </p:tav>
                                        <p:tav tm="100000">
                                          <p:val>
                                            <p:strVal val="#ppt_x"/>
                                          </p:val>
                                        </p:tav>
                                      </p:tavLst>
                                    </p:anim>
                                    <p:anim calcmode="lin" valueType="num">
                                      <p:cBhvr additive="base">
                                        <p:cTn id="1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12084-2BD8-BB4D-475D-443EEDF42DFF}"/>
              </a:ext>
            </a:extLst>
          </p:cNvPr>
          <p:cNvSpPr>
            <a:spLocks noGrp="1"/>
          </p:cNvSpPr>
          <p:nvPr>
            <p:ph type="title"/>
          </p:nvPr>
        </p:nvSpPr>
        <p:spPr/>
        <p:txBody>
          <a:bodyPr/>
          <a:lstStyle/>
          <a:p>
            <a:r>
              <a:rPr lang="en-US" b="1" dirty="0"/>
              <a:t>Prototype and Setup</a:t>
            </a:r>
            <a:endParaRPr lang="en-GB" b="1" dirty="0"/>
          </a:p>
        </p:txBody>
      </p:sp>
      <p:sp>
        <p:nvSpPr>
          <p:cNvPr id="3" name="Content Placeholder 2">
            <a:extLst>
              <a:ext uri="{FF2B5EF4-FFF2-40B4-BE49-F238E27FC236}">
                <a16:creationId xmlns:a16="http://schemas.microsoft.com/office/drawing/2014/main" id="{A483EC68-5CB0-C4D2-F8A8-FB2912F24825}"/>
              </a:ext>
            </a:extLst>
          </p:cNvPr>
          <p:cNvSpPr>
            <a:spLocks noGrp="1"/>
          </p:cNvSpPr>
          <p:nvPr>
            <p:ph idx="1"/>
          </p:nvPr>
        </p:nvSpPr>
        <p:spPr/>
        <p:txBody>
          <a:bodyPr/>
          <a:lstStyle/>
          <a:p>
            <a:pPr marL="0" indent="0">
              <a:buNone/>
            </a:pPr>
            <a:r>
              <a:rPr lang="en-US"/>
              <a:t> </a:t>
            </a:r>
            <a:endParaRPr lang="en-GB" dirty="0"/>
          </a:p>
        </p:txBody>
      </p:sp>
      <p:pic>
        <p:nvPicPr>
          <p:cNvPr id="7" name="Picture 6" descr="A close-up of a circuit board&#10;&#10;Description automatically generated">
            <a:extLst>
              <a:ext uri="{FF2B5EF4-FFF2-40B4-BE49-F238E27FC236}">
                <a16:creationId xmlns:a16="http://schemas.microsoft.com/office/drawing/2014/main" id="{715AA36D-ACAB-0F49-5A61-3B05EC2530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231701" y="478130"/>
            <a:ext cx="5408190" cy="7210920"/>
          </a:xfrm>
          <a:prstGeom prst="rect">
            <a:avLst/>
          </a:prstGeom>
        </p:spPr>
      </p:pic>
    </p:spTree>
    <p:extLst>
      <p:ext uri="{BB962C8B-B14F-4D97-AF65-F5344CB8AC3E}">
        <p14:creationId xmlns:p14="http://schemas.microsoft.com/office/powerpoint/2010/main" val="14046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12084-2BD8-BB4D-475D-443EEDF42DFF}"/>
              </a:ext>
            </a:extLst>
          </p:cNvPr>
          <p:cNvSpPr>
            <a:spLocks noGrp="1"/>
          </p:cNvSpPr>
          <p:nvPr>
            <p:ph type="title"/>
          </p:nvPr>
        </p:nvSpPr>
        <p:spPr/>
        <p:txBody>
          <a:bodyPr/>
          <a:lstStyle/>
          <a:p>
            <a:r>
              <a:rPr lang="en-US" b="1" dirty="0"/>
              <a:t>Prototype and Setup</a:t>
            </a:r>
            <a:endParaRPr lang="en-GB" b="1" dirty="0"/>
          </a:p>
        </p:txBody>
      </p:sp>
      <p:sp>
        <p:nvSpPr>
          <p:cNvPr id="3" name="Content Placeholder 2">
            <a:extLst>
              <a:ext uri="{FF2B5EF4-FFF2-40B4-BE49-F238E27FC236}">
                <a16:creationId xmlns:a16="http://schemas.microsoft.com/office/drawing/2014/main" id="{A483EC68-5CB0-C4D2-F8A8-FB2912F24825}"/>
              </a:ext>
            </a:extLst>
          </p:cNvPr>
          <p:cNvSpPr>
            <a:spLocks noGrp="1"/>
          </p:cNvSpPr>
          <p:nvPr>
            <p:ph idx="1"/>
          </p:nvPr>
        </p:nvSpPr>
        <p:spPr/>
        <p:txBody>
          <a:bodyPr/>
          <a:lstStyle/>
          <a:p>
            <a:pPr marL="0" indent="0">
              <a:buNone/>
            </a:pPr>
            <a:r>
              <a:rPr lang="en-US" dirty="0"/>
              <a:t> </a:t>
            </a:r>
            <a:endParaRPr lang="en-GB" dirty="0"/>
          </a:p>
        </p:txBody>
      </p:sp>
      <p:pic>
        <p:nvPicPr>
          <p:cNvPr id="5" name="Picture 4" descr="A green circuit board with many small components&#10;&#10;Description automatically generated">
            <a:extLst>
              <a:ext uri="{FF2B5EF4-FFF2-40B4-BE49-F238E27FC236}">
                <a16:creationId xmlns:a16="http://schemas.microsoft.com/office/drawing/2014/main" id="{24920514-B1E1-F84B-28CA-6A63E5ADA4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3608451" y="665480"/>
            <a:ext cx="5143500" cy="6858000"/>
          </a:xfrm>
          <a:prstGeom prst="rect">
            <a:avLst/>
          </a:prstGeom>
        </p:spPr>
      </p:pic>
      <p:sp>
        <p:nvSpPr>
          <p:cNvPr id="6" name="Oval 5">
            <a:extLst>
              <a:ext uri="{FF2B5EF4-FFF2-40B4-BE49-F238E27FC236}">
                <a16:creationId xmlns:a16="http://schemas.microsoft.com/office/drawing/2014/main" id="{5A48EED5-37A8-07AC-094E-B931BE9261F5}"/>
              </a:ext>
            </a:extLst>
          </p:cNvPr>
          <p:cNvSpPr/>
          <p:nvPr/>
        </p:nvSpPr>
        <p:spPr>
          <a:xfrm>
            <a:off x="5120640" y="4731766"/>
            <a:ext cx="621792" cy="603504"/>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C215D876-93E3-304E-10C5-A01C528FD83D}"/>
              </a:ext>
            </a:extLst>
          </p:cNvPr>
          <p:cNvSpPr/>
          <p:nvPr/>
        </p:nvSpPr>
        <p:spPr>
          <a:xfrm>
            <a:off x="7546848" y="4172712"/>
            <a:ext cx="621792" cy="603504"/>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AC90342E-EA29-ED46-D58E-FCF9D8812C4F}"/>
              </a:ext>
            </a:extLst>
          </p:cNvPr>
          <p:cNvSpPr/>
          <p:nvPr/>
        </p:nvSpPr>
        <p:spPr>
          <a:xfrm>
            <a:off x="8196072" y="4172712"/>
            <a:ext cx="621792" cy="603504"/>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Connector 10">
            <a:extLst>
              <a:ext uri="{FF2B5EF4-FFF2-40B4-BE49-F238E27FC236}">
                <a16:creationId xmlns:a16="http://schemas.microsoft.com/office/drawing/2014/main" id="{E9B7A07F-9723-BFB1-5BCF-64755E2748F1}"/>
              </a:ext>
            </a:extLst>
          </p:cNvPr>
          <p:cNvCxnSpPr>
            <a:cxnSpLocks/>
            <a:endCxn id="6" idx="2"/>
          </p:cNvCxnSpPr>
          <p:nvPr/>
        </p:nvCxnSpPr>
        <p:spPr>
          <a:xfrm>
            <a:off x="3675888" y="4731766"/>
            <a:ext cx="1444752" cy="301752"/>
          </a:xfrm>
          <a:prstGeom prst="line">
            <a:avLst/>
          </a:prstGeom>
          <a:ln w="9525">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FBCB31-1DCD-21E8-A5D8-F1BB9042F216}"/>
              </a:ext>
            </a:extLst>
          </p:cNvPr>
          <p:cNvSpPr txBox="1"/>
          <p:nvPr/>
        </p:nvSpPr>
        <p:spPr>
          <a:xfrm>
            <a:off x="2813304" y="4129885"/>
            <a:ext cx="1405128" cy="646331"/>
          </a:xfrm>
          <a:prstGeom prst="rect">
            <a:avLst/>
          </a:prstGeom>
          <a:noFill/>
        </p:spPr>
        <p:txBody>
          <a:bodyPr wrap="square" rtlCol="0">
            <a:spAutoFit/>
          </a:bodyPr>
          <a:lstStyle/>
          <a:p>
            <a:r>
              <a:rPr lang="en-US" dirty="0">
                <a:solidFill>
                  <a:srgbClr val="FF0000"/>
                </a:solidFill>
              </a:rPr>
              <a:t>Sensor connector</a:t>
            </a:r>
            <a:endParaRPr lang="en-GB" dirty="0">
              <a:solidFill>
                <a:srgbClr val="FF0000"/>
              </a:solidFill>
            </a:endParaRPr>
          </a:p>
        </p:txBody>
      </p:sp>
      <p:cxnSp>
        <p:nvCxnSpPr>
          <p:cNvPr id="14" name="Straight Connector 13">
            <a:extLst>
              <a:ext uri="{FF2B5EF4-FFF2-40B4-BE49-F238E27FC236}">
                <a16:creationId xmlns:a16="http://schemas.microsoft.com/office/drawing/2014/main" id="{71BCB564-579C-222C-3025-8828FAF66EBD}"/>
              </a:ext>
            </a:extLst>
          </p:cNvPr>
          <p:cNvCxnSpPr>
            <a:cxnSpLocks/>
          </p:cNvCxnSpPr>
          <p:nvPr/>
        </p:nvCxnSpPr>
        <p:spPr>
          <a:xfrm flipV="1">
            <a:off x="7817358" y="3350165"/>
            <a:ext cx="1243584" cy="822547"/>
          </a:xfrm>
          <a:prstGeom prst="line">
            <a:avLst/>
          </a:prstGeom>
          <a:ln w="952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5FBEE6F-54A2-8E3C-EA36-D0E8962CFB22}"/>
              </a:ext>
            </a:extLst>
          </p:cNvPr>
          <p:cNvCxnSpPr>
            <a:cxnSpLocks/>
          </p:cNvCxnSpPr>
          <p:nvPr/>
        </p:nvCxnSpPr>
        <p:spPr>
          <a:xfrm flipV="1">
            <a:off x="8845296" y="3944173"/>
            <a:ext cx="1444752" cy="385176"/>
          </a:xfrm>
          <a:prstGeom prst="line">
            <a:avLst/>
          </a:prstGeom>
          <a:ln w="9525">
            <a:solidFill>
              <a:srgbClr val="FFC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F3927A4-A3F9-FA9A-B68B-FEE871553687}"/>
              </a:ext>
            </a:extLst>
          </p:cNvPr>
          <p:cNvSpPr txBox="1"/>
          <p:nvPr/>
        </p:nvSpPr>
        <p:spPr>
          <a:xfrm>
            <a:off x="9196578" y="2926525"/>
            <a:ext cx="825246" cy="646331"/>
          </a:xfrm>
          <a:prstGeom prst="rect">
            <a:avLst/>
          </a:prstGeom>
          <a:noFill/>
        </p:spPr>
        <p:txBody>
          <a:bodyPr wrap="square" rtlCol="0">
            <a:spAutoFit/>
          </a:bodyPr>
          <a:lstStyle/>
          <a:p>
            <a:r>
              <a:rPr lang="en-US" dirty="0">
                <a:solidFill>
                  <a:srgbClr val="FF0000"/>
                </a:solidFill>
              </a:rPr>
              <a:t>Peltier plate</a:t>
            </a:r>
            <a:endParaRPr lang="en-GB" dirty="0">
              <a:solidFill>
                <a:srgbClr val="FF0000"/>
              </a:solidFill>
            </a:endParaRPr>
          </a:p>
        </p:txBody>
      </p:sp>
      <p:sp>
        <p:nvSpPr>
          <p:cNvPr id="20" name="TextBox 19">
            <a:extLst>
              <a:ext uri="{FF2B5EF4-FFF2-40B4-BE49-F238E27FC236}">
                <a16:creationId xmlns:a16="http://schemas.microsoft.com/office/drawing/2014/main" id="{14901810-2D8A-A7DF-B3DC-82F6FB1D08C6}"/>
              </a:ext>
            </a:extLst>
          </p:cNvPr>
          <p:cNvSpPr txBox="1"/>
          <p:nvPr/>
        </p:nvSpPr>
        <p:spPr>
          <a:xfrm>
            <a:off x="10451592" y="3683018"/>
            <a:ext cx="1172718" cy="646331"/>
          </a:xfrm>
          <a:prstGeom prst="rect">
            <a:avLst/>
          </a:prstGeom>
          <a:noFill/>
        </p:spPr>
        <p:txBody>
          <a:bodyPr wrap="square" rtlCol="0">
            <a:spAutoFit/>
          </a:bodyPr>
          <a:lstStyle/>
          <a:p>
            <a:r>
              <a:rPr lang="en-US" dirty="0">
                <a:solidFill>
                  <a:srgbClr val="FF0000"/>
                </a:solidFill>
              </a:rPr>
              <a:t>Power adapter</a:t>
            </a:r>
            <a:endParaRPr lang="en-GB" dirty="0">
              <a:solidFill>
                <a:srgbClr val="FF0000"/>
              </a:solidFill>
            </a:endParaRPr>
          </a:p>
        </p:txBody>
      </p:sp>
      <p:pic>
        <p:nvPicPr>
          <p:cNvPr id="21" name="Picture 20" descr="A grey circular object with holes&#10;&#10;Description automatically generated">
            <a:extLst>
              <a:ext uri="{FF2B5EF4-FFF2-40B4-BE49-F238E27FC236}">
                <a16:creationId xmlns:a16="http://schemas.microsoft.com/office/drawing/2014/main" id="{25CDCAC0-620B-38E5-1CC6-8DAAAEE1F7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1201" y="1547252"/>
            <a:ext cx="6857999" cy="5250920"/>
          </a:xfrm>
          <a:prstGeom prst="rect">
            <a:avLst/>
          </a:prstGeom>
        </p:spPr>
      </p:pic>
    </p:spTree>
    <p:extLst>
      <p:ext uri="{BB962C8B-B14F-4D97-AF65-F5344CB8AC3E}">
        <p14:creationId xmlns:p14="http://schemas.microsoft.com/office/powerpoint/2010/main" val="324763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1"/>
                                        </p:tgtEl>
                                        <p:attrNameLst>
                                          <p:attrName>ppt_x</p:attrName>
                                        </p:attrNameLst>
                                      </p:cBhvr>
                                      <p:tavLst>
                                        <p:tav tm="0">
                                          <p:val>
                                            <p:strVal val="ppt_x"/>
                                          </p:val>
                                        </p:tav>
                                        <p:tav tm="100000">
                                          <p:val>
                                            <p:strVal val="ppt_x"/>
                                          </p:val>
                                        </p:tav>
                                      </p:tavLst>
                                    </p:anim>
                                    <p:anim calcmode="lin" valueType="num">
                                      <p:cBhvr additive="base">
                                        <p:cTn id="7" dur="500"/>
                                        <p:tgtEl>
                                          <p:spTgt spid="21"/>
                                        </p:tgtEl>
                                        <p:attrNameLst>
                                          <p:attrName>ppt_y</p:attrName>
                                        </p:attrNameLst>
                                      </p:cBhvr>
                                      <p:tavLst>
                                        <p:tav tm="0">
                                          <p:val>
                                            <p:strVal val="ppt_y"/>
                                          </p:val>
                                        </p:tav>
                                        <p:tav tm="100000">
                                          <p:val>
                                            <p:strVal val="1+ppt_h/2"/>
                                          </p:val>
                                        </p:tav>
                                      </p:tavLst>
                                    </p:anim>
                                    <p:set>
                                      <p:cBhvr>
                                        <p:cTn id="8" dur="1" fill="hold">
                                          <p:stCondLst>
                                            <p:cond delay="499"/>
                                          </p:stCondLst>
                                        </p:cTn>
                                        <p:tgtEl>
                                          <p:spTgt spid="2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3" grpId="0"/>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C4BAB-F85D-F164-22FE-C3D64FD938A3}"/>
              </a:ext>
            </a:extLst>
          </p:cNvPr>
          <p:cNvSpPr>
            <a:spLocks noGrp="1"/>
          </p:cNvSpPr>
          <p:nvPr>
            <p:ph type="title"/>
          </p:nvPr>
        </p:nvSpPr>
        <p:spPr/>
        <p:txBody>
          <a:bodyPr/>
          <a:lstStyle/>
          <a:p>
            <a:r>
              <a:rPr lang="en-US" b="1" dirty="0"/>
              <a:t>Temperature Mapping</a:t>
            </a:r>
            <a:endParaRPr lang="en-GB" dirty="0"/>
          </a:p>
        </p:txBody>
      </p:sp>
      <p:pic>
        <p:nvPicPr>
          <p:cNvPr id="7" name="Content Placeholder 6" descr="A graph of a temperature&#10;&#10;Description automatically generated">
            <a:extLst>
              <a:ext uri="{FF2B5EF4-FFF2-40B4-BE49-F238E27FC236}">
                <a16:creationId xmlns:a16="http://schemas.microsoft.com/office/drawing/2014/main" id="{A470EBE2-F157-93E6-3D75-33C97F9F6D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48519" y="1888734"/>
            <a:ext cx="5380492" cy="4132842"/>
          </a:xfrm>
        </p:spPr>
      </p:pic>
      <p:pic>
        <p:nvPicPr>
          <p:cNvPr id="1026" name="Picture 2" descr="Image preview">
            <a:extLst>
              <a:ext uri="{FF2B5EF4-FFF2-40B4-BE49-F238E27FC236}">
                <a16:creationId xmlns:a16="http://schemas.microsoft.com/office/drawing/2014/main" id="{18037A97-3493-F4FD-297D-BE3A15215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80" y="4962895"/>
            <a:ext cx="3741119" cy="643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424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B7E58-CD6B-D37B-809E-3F7990BC6A16}"/>
              </a:ext>
            </a:extLst>
          </p:cNvPr>
          <p:cNvSpPr>
            <a:spLocks noGrp="1"/>
          </p:cNvSpPr>
          <p:nvPr>
            <p:ph type="title"/>
          </p:nvPr>
        </p:nvSpPr>
        <p:spPr/>
        <p:txBody>
          <a:bodyPr/>
          <a:lstStyle/>
          <a:p>
            <a:r>
              <a:rPr lang="en-US" b="1" dirty="0"/>
              <a:t>Temperature Mapping</a:t>
            </a:r>
            <a:endParaRPr lang="en-GB" b="1" dirty="0"/>
          </a:p>
        </p:txBody>
      </p:sp>
      <p:pic>
        <p:nvPicPr>
          <p:cNvPr id="7" name="Content Placeholder 6" descr="A graph of a sensor&#10;&#10;Description automatically generated with medium confidence">
            <a:extLst>
              <a:ext uri="{FF2B5EF4-FFF2-40B4-BE49-F238E27FC236}">
                <a16:creationId xmlns:a16="http://schemas.microsoft.com/office/drawing/2014/main" id="{74B267FD-546A-A357-7870-293EC904F7C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97876" y="2179534"/>
            <a:ext cx="4413139" cy="3431764"/>
          </a:xfrm>
        </p:spPr>
      </p:pic>
      <p:pic>
        <p:nvPicPr>
          <p:cNvPr id="9" name="Picture 8" descr="A graph of a step response&#10;&#10;Description automatically generated">
            <a:extLst>
              <a:ext uri="{FF2B5EF4-FFF2-40B4-BE49-F238E27FC236}">
                <a16:creationId xmlns:a16="http://schemas.microsoft.com/office/drawing/2014/main" id="{B035F399-738C-8F13-C8BD-901334F618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5482" y="2127722"/>
            <a:ext cx="4388757" cy="3535388"/>
          </a:xfrm>
          <a:prstGeom prst="rect">
            <a:avLst/>
          </a:prstGeom>
        </p:spPr>
      </p:pic>
    </p:spTree>
    <p:extLst>
      <p:ext uri="{BB962C8B-B14F-4D97-AF65-F5344CB8AC3E}">
        <p14:creationId xmlns:p14="http://schemas.microsoft.com/office/powerpoint/2010/main" val="182887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75085-9B7A-6A7E-CD8F-0EE9AE65F249}"/>
              </a:ext>
            </a:extLst>
          </p:cNvPr>
          <p:cNvSpPr>
            <a:spLocks noGrp="1"/>
          </p:cNvSpPr>
          <p:nvPr>
            <p:ph type="title"/>
          </p:nvPr>
        </p:nvSpPr>
        <p:spPr/>
        <p:txBody>
          <a:bodyPr/>
          <a:lstStyle/>
          <a:p>
            <a:r>
              <a:rPr lang="en-US" b="1" dirty="0"/>
              <a:t>Temperature Control Performance</a:t>
            </a:r>
            <a:endParaRPr lang="en-GB" dirty="0"/>
          </a:p>
        </p:txBody>
      </p:sp>
      <p:pic>
        <p:nvPicPr>
          <p:cNvPr id="11" name="Content Placeholder 10">
            <a:extLst>
              <a:ext uri="{FF2B5EF4-FFF2-40B4-BE49-F238E27FC236}">
                <a16:creationId xmlns:a16="http://schemas.microsoft.com/office/drawing/2014/main" id="{6E3A97D7-D66F-95B9-9D07-091F0E089A7E}"/>
              </a:ext>
            </a:extLst>
          </p:cNvPr>
          <p:cNvPicPr>
            <a:picLocks noGrp="1" noChangeAspect="1"/>
          </p:cNvPicPr>
          <p:nvPr>
            <p:ph idx="1"/>
          </p:nvPr>
        </p:nvPicPr>
        <p:blipFill>
          <a:blip r:embed="rId3"/>
          <a:stretch>
            <a:fillRect/>
          </a:stretch>
        </p:blipFill>
        <p:spPr>
          <a:xfrm>
            <a:off x="3429000" y="2001044"/>
            <a:ext cx="5334000" cy="4000500"/>
          </a:xfrm>
        </p:spPr>
      </p:pic>
    </p:spTree>
    <p:extLst>
      <p:ext uri="{BB962C8B-B14F-4D97-AF65-F5344CB8AC3E}">
        <p14:creationId xmlns:p14="http://schemas.microsoft.com/office/powerpoint/2010/main" val="452665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8FF5B-7825-0B23-43C8-581F9F8DA278}"/>
              </a:ext>
            </a:extLst>
          </p:cNvPr>
          <p:cNvSpPr>
            <a:spLocks noGrp="1"/>
          </p:cNvSpPr>
          <p:nvPr>
            <p:ph type="title"/>
          </p:nvPr>
        </p:nvSpPr>
        <p:spPr/>
        <p:txBody>
          <a:bodyPr/>
          <a:lstStyle/>
          <a:p>
            <a:r>
              <a:rPr lang="en-US" b="1" dirty="0"/>
              <a:t>Resolution Improvement</a:t>
            </a:r>
            <a:endParaRPr lang="en-GB" b="1" dirty="0"/>
          </a:p>
        </p:txBody>
      </p:sp>
      <p:pic>
        <p:nvPicPr>
          <p:cNvPr id="9" name="Picture 8">
            <a:extLst>
              <a:ext uri="{FF2B5EF4-FFF2-40B4-BE49-F238E27FC236}">
                <a16:creationId xmlns:a16="http://schemas.microsoft.com/office/drawing/2014/main" id="{B4849412-CC16-6752-1E3C-B20156B4DDA3}"/>
              </a:ext>
            </a:extLst>
          </p:cNvPr>
          <p:cNvPicPr>
            <a:picLocks noChangeAspect="1"/>
          </p:cNvPicPr>
          <p:nvPr/>
        </p:nvPicPr>
        <p:blipFill>
          <a:blip r:embed="rId3"/>
          <a:stretch>
            <a:fillRect/>
          </a:stretch>
        </p:blipFill>
        <p:spPr>
          <a:xfrm>
            <a:off x="1692048" y="1484072"/>
            <a:ext cx="8807903" cy="4692891"/>
          </a:xfrm>
          <a:prstGeom prst="rect">
            <a:avLst/>
          </a:prstGeom>
        </p:spPr>
      </p:pic>
      <p:sp>
        <p:nvSpPr>
          <p:cNvPr id="10" name="Oval 9">
            <a:extLst>
              <a:ext uri="{FF2B5EF4-FFF2-40B4-BE49-F238E27FC236}">
                <a16:creationId xmlns:a16="http://schemas.microsoft.com/office/drawing/2014/main" id="{FF87F262-DDAE-1B58-B35D-C0845FD82741}"/>
              </a:ext>
            </a:extLst>
          </p:cNvPr>
          <p:cNvSpPr/>
          <p:nvPr/>
        </p:nvSpPr>
        <p:spPr>
          <a:xfrm>
            <a:off x="3878981" y="2945331"/>
            <a:ext cx="1337912" cy="1472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Oval 10">
            <a:extLst>
              <a:ext uri="{FF2B5EF4-FFF2-40B4-BE49-F238E27FC236}">
                <a16:creationId xmlns:a16="http://schemas.microsoft.com/office/drawing/2014/main" id="{32609373-B480-C818-8C68-6D8F22E55DC4}"/>
              </a:ext>
            </a:extLst>
          </p:cNvPr>
          <p:cNvSpPr/>
          <p:nvPr/>
        </p:nvSpPr>
        <p:spPr>
          <a:xfrm>
            <a:off x="5504047" y="2587592"/>
            <a:ext cx="1337912" cy="1472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3" name="Straight Connector 12">
            <a:extLst>
              <a:ext uri="{FF2B5EF4-FFF2-40B4-BE49-F238E27FC236}">
                <a16:creationId xmlns:a16="http://schemas.microsoft.com/office/drawing/2014/main" id="{1AE667D3-26D8-4C00-55A8-F55B373F65B5}"/>
              </a:ext>
            </a:extLst>
          </p:cNvPr>
          <p:cNvCxnSpPr/>
          <p:nvPr/>
        </p:nvCxnSpPr>
        <p:spPr>
          <a:xfrm flipH="1">
            <a:off x="1617044" y="3681663"/>
            <a:ext cx="2261937" cy="563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9CD6462-EC19-BE2B-872E-6AFE7A3219B9}"/>
              </a:ext>
            </a:extLst>
          </p:cNvPr>
          <p:cNvCxnSpPr/>
          <p:nvPr/>
        </p:nvCxnSpPr>
        <p:spPr>
          <a:xfrm flipV="1">
            <a:off x="6622181" y="1690688"/>
            <a:ext cx="760396" cy="1033261"/>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380F116-85F0-71EA-F145-A71E3E251D16}"/>
              </a:ext>
            </a:extLst>
          </p:cNvPr>
          <p:cNvSpPr txBox="1"/>
          <p:nvPr/>
        </p:nvSpPr>
        <p:spPr>
          <a:xfrm>
            <a:off x="160217" y="3869704"/>
            <a:ext cx="2059806" cy="923330"/>
          </a:xfrm>
          <a:prstGeom prst="rect">
            <a:avLst/>
          </a:prstGeom>
          <a:noFill/>
        </p:spPr>
        <p:txBody>
          <a:bodyPr wrap="square" rtlCol="0">
            <a:spAutoFit/>
          </a:bodyPr>
          <a:lstStyle/>
          <a:p>
            <a:r>
              <a:rPr lang="en-US" dirty="0">
                <a:solidFill>
                  <a:schemeClr val="accent1">
                    <a:lumMod val="75000"/>
                  </a:schemeClr>
                </a:solidFill>
              </a:rPr>
              <a:t>Differential amplifier - subtract the offset</a:t>
            </a:r>
            <a:endParaRPr lang="en-GB" dirty="0">
              <a:solidFill>
                <a:schemeClr val="accent1">
                  <a:lumMod val="75000"/>
                </a:schemeClr>
              </a:solidFill>
            </a:endParaRPr>
          </a:p>
        </p:txBody>
      </p:sp>
      <p:sp>
        <p:nvSpPr>
          <p:cNvPr id="17" name="TextBox 16">
            <a:extLst>
              <a:ext uri="{FF2B5EF4-FFF2-40B4-BE49-F238E27FC236}">
                <a16:creationId xmlns:a16="http://schemas.microsoft.com/office/drawing/2014/main" id="{8230DECA-475E-A657-B76F-9888A8C37CEE}"/>
              </a:ext>
            </a:extLst>
          </p:cNvPr>
          <p:cNvSpPr txBox="1"/>
          <p:nvPr/>
        </p:nvSpPr>
        <p:spPr>
          <a:xfrm>
            <a:off x="7464406" y="1283988"/>
            <a:ext cx="2189338" cy="923330"/>
          </a:xfrm>
          <a:prstGeom prst="rect">
            <a:avLst/>
          </a:prstGeom>
          <a:noFill/>
        </p:spPr>
        <p:txBody>
          <a:bodyPr wrap="square" rtlCol="0">
            <a:spAutoFit/>
          </a:bodyPr>
          <a:lstStyle/>
          <a:p>
            <a:r>
              <a:rPr lang="en-US" dirty="0">
                <a:solidFill>
                  <a:schemeClr val="accent1">
                    <a:lumMod val="75000"/>
                  </a:schemeClr>
                </a:solidFill>
              </a:rPr>
              <a:t>Non-inverting amplifier – amplifying the signal</a:t>
            </a:r>
            <a:endParaRPr lang="en-GB" dirty="0">
              <a:solidFill>
                <a:schemeClr val="accent1">
                  <a:lumMod val="75000"/>
                </a:schemeClr>
              </a:solidFill>
            </a:endParaRPr>
          </a:p>
        </p:txBody>
      </p:sp>
      <p:sp>
        <p:nvSpPr>
          <p:cNvPr id="18" name="Oval 17">
            <a:extLst>
              <a:ext uri="{FF2B5EF4-FFF2-40B4-BE49-F238E27FC236}">
                <a16:creationId xmlns:a16="http://schemas.microsoft.com/office/drawing/2014/main" id="{2CFF1D30-F785-70EF-6CB7-6E29868E49AB}"/>
              </a:ext>
            </a:extLst>
          </p:cNvPr>
          <p:cNvSpPr/>
          <p:nvPr/>
        </p:nvSpPr>
        <p:spPr>
          <a:xfrm>
            <a:off x="2466079" y="1890772"/>
            <a:ext cx="1337912" cy="1472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9" name="Straight Connector 18">
            <a:extLst>
              <a:ext uri="{FF2B5EF4-FFF2-40B4-BE49-F238E27FC236}">
                <a16:creationId xmlns:a16="http://schemas.microsoft.com/office/drawing/2014/main" id="{690369DD-A957-CFBF-651F-488B3FFD8FAC}"/>
              </a:ext>
            </a:extLst>
          </p:cNvPr>
          <p:cNvCxnSpPr>
            <a:cxnSpLocks/>
          </p:cNvCxnSpPr>
          <p:nvPr/>
        </p:nvCxnSpPr>
        <p:spPr>
          <a:xfrm flipH="1" flipV="1">
            <a:off x="1458686" y="2207318"/>
            <a:ext cx="1003056" cy="219702"/>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C1FB2F8-1E17-D8CF-761C-45FD4D7C7F49}"/>
              </a:ext>
            </a:extLst>
          </p:cNvPr>
          <p:cNvSpPr txBox="1"/>
          <p:nvPr/>
        </p:nvSpPr>
        <p:spPr>
          <a:xfrm>
            <a:off x="348342" y="1839152"/>
            <a:ext cx="1268701" cy="1200329"/>
          </a:xfrm>
          <a:prstGeom prst="rect">
            <a:avLst/>
          </a:prstGeom>
          <a:noFill/>
        </p:spPr>
        <p:txBody>
          <a:bodyPr wrap="square" rtlCol="0">
            <a:spAutoFit/>
          </a:bodyPr>
          <a:lstStyle/>
          <a:p>
            <a:r>
              <a:rPr lang="en-US" dirty="0">
                <a:solidFill>
                  <a:schemeClr val="accent1">
                    <a:lumMod val="75000"/>
                  </a:schemeClr>
                </a:solidFill>
              </a:rPr>
              <a:t>Voltage follower –offset voltage</a:t>
            </a:r>
            <a:endParaRPr lang="en-GB" dirty="0">
              <a:solidFill>
                <a:schemeClr val="accent1">
                  <a:lumMod val="75000"/>
                </a:schemeClr>
              </a:solidFill>
            </a:endParaRPr>
          </a:p>
        </p:txBody>
      </p:sp>
    </p:spTree>
    <p:extLst>
      <p:ext uri="{BB962C8B-B14F-4D97-AF65-F5344CB8AC3E}">
        <p14:creationId xmlns:p14="http://schemas.microsoft.com/office/powerpoint/2010/main" val="1219688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6D65-2D02-0BA8-7C1C-DCA42522B64A}"/>
              </a:ext>
            </a:extLst>
          </p:cNvPr>
          <p:cNvSpPr>
            <a:spLocks noGrp="1"/>
          </p:cNvSpPr>
          <p:nvPr>
            <p:ph type="title"/>
          </p:nvPr>
        </p:nvSpPr>
        <p:spPr/>
        <p:txBody>
          <a:bodyPr/>
          <a:lstStyle/>
          <a:p>
            <a:r>
              <a:rPr lang="en-US" b="1" dirty="0"/>
              <a:t>Resolution Improvement</a:t>
            </a:r>
            <a:endParaRPr lang="en-GB" dirty="0"/>
          </a:p>
        </p:txBody>
      </p:sp>
      <p:pic>
        <p:nvPicPr>
          <p:cNvPr id="11" name="Picture 10">
            <a:extLst>
              <a:ext uri="{FF2B5EF4-FFF2-40B4-BE49-F238E27FC236}">
                <a16:creationId xmlns:a16="http://schemas.microsoft.com/office/drawing/2014/main" id="{A5F06899-7059-8209-B885-666F81787EA9}"/>
              </a:ext>
            </a:extLst>
          </p:cNvPr>
          <p:cNvPicPr>
            <a:picLocks noChangeAspect="1"/>
          </p:cNvPicPr>
          <p:nvPr/>
        </p:nvPicPr>
        <p:blipFill>
          <a:blip r:embed="rId3"/>
          <a:stretch>
            <a:fillRect/>
          </a:stretch>
        </p:blipFill>
        <p:spPr>
          <a:xfrm>
            <a:off x="5138056" y="1352549"/>
            <a:ext cx="6513285" cy="4884964"/>
          </a:xfrm>
          <a:prstGeom prst="rect">
            <a:avLst/>
          </a:prstGeom>
        </p:spPr>
      </p:pic>
      <p:pic>
        <p:nvPicPr>
          <p:cNvPr id="3" name="Picture 2" descr="A graph of a step response&#10;&#10;Description automatically generated">
            <a:extLst>
              <a:ext uri="{FF2B5EF4-FFF2-40B4-BE49-F238E27FC236}">
                <a16:creationId xmlns:a16="http://schemas.microsoft.com/office/drawing/2014/main" id="{F6209972-FB5E-6DFF-D436-9EB421538B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082" y="2175309"/>
            <a:ext cx="4623880" cy="3556486"/>
          </a:xfrm>
          <a:prstGeom prst="rect">
            <a:avLst/>
          </a:prstGeom>
        </p:spPr>
      </p:pic>
    </p:spTree>
    <p:extLst>
      <p:ext uri="{BB962C8B-B14F-4D97-AF65-F5344CB8AC3E}">
        <p14:creationId xmlns:p14="http://schemas.microsoft.com/office/powerpoint/2010/main" val="265863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B0D70-3CA8-10D3-EBD3-69C64E9BD305}"/>
              </a:ext>
            </a:extLst>
          </p:cNvPr>
          <p:cNvSpPr>
            <a:spLocks noGrp="1"/>
          </p:cNvSpPr>
          <p:nvPr>
            <p:ph type="title"/>
          </p:nvPr>
        </p:nvSpPr>
        <p:spPr/>
        <p:txBody>
          <a:bodyPr/>
          <a:lstStyle/>
          <a:p>
            <a:r>
              <a:rPr lang="en-US" b="1" dirty="0"/>
              <a:t>Organoid Calcium Dynamics</a:t>
            </a:r>
            <a:endParaRPr lang="en-GB" b="1" dirty="0"/>
          </a:p>
        </p:txBody>
      </p:sp>
      <p:sp>
        <p:nvSpPr>
          <p:cNvPr id="3" name="Content Placeholder 2">
            <a:extLst>
              <a:ext uri="{FF2B5EF4-FFF2-40B4-BE49-F238E27FC236}">
                <a16:creationId xmlns:a16="http://schemas.microsoft.com/office/drawing/2014/main" id="{9B29E309-2F1F-ECE6-6514-83A16A6480A2}"/>
              </a:ext>
            </a:extLst>
          </p:cNvPr>
          <p:cNvSpPr>
            <a:spLocks noGrp="1"/>
          </p:cNvSpPr>
          <p:nvPr>
            <p:ph idx="1"/>
          </p:nvPr>
        </p:nvSpPr>
        <p:spPr>
          <a:xfrm>
            <a:off x="838200" y="1878806"/>
            <a:ext cx="4996543" cy="4351338"/>
          </a:xfrm>
        </p:spPr>
        <p:txBody>
          <a:bodyPr/>
          <a:lstStyle/>
          <a:p>
            <a:pPr marL="0" indent="0">
              <a:buNone/>
            </a:pPr>
            <a:r>
              <a:rPr lang="en-US" sz="3200" u="sng" dirty="0"/>
              <a:t>Imaging plan</a:t>
            </a:r>
          </a:p>
          <a:p>
            <a:pPr marL="0" indent="0">
              <a:buNone/>
            </a:pPr>
            <a:r>
              <a:rPr lang="en-US" dirty="0"/>
              <a:t>- new organoid slices in the temperature control chamber</a:t>
            </a:r>
          </a:p>
          <a:p>
            <a:pPr marL="0" indent="0">
              <a:buNone/>
            </a:pPr>
            <a:endParaRPr lang="en-US" dirty="0"/>
          </a:p>
          <a:p>
            <a:pPr marL="0" indent="0">
              <a:buNone/>
            </a:pPr>
            <a:r>
              <a:rPr lang="en-US" dirty="0"/>
              <a:t>- record under temperature control, around and within the optimal temperature range, repeat for each site</a:t>
            </a:r>
          </a:p>
          <a:p>
            <a:pPr marL="0" indent="0">
              <a:buNone/>
            </a:pPr>
            <a:endParaRPr lang="en-US" dirty="0"/>
          </a:p>
        </p:txBody>
      </p:sp>
      <p:pic>
        <p:nvPicPr>
          <p:cNvPr id="5" name="Picture 4">
            <a:extLst>
              <a:ext uri="{FF2B5EF4-FFF2-40B4-BE49-F238E27FC236}">
                <a16:creationId xmlns:a16="http://schemas.microsoft.com/office/drawing/2014/main" id="{254EEC2B-97C1-CC9F-2E19-FCA4DC7D003A}"/>
              </a:ext>
            </a:extLst>
          </p:cNvPr>
          <p:cNvPicPr>
            <a:picLocks noChangeAspect="1"/>
          </p:cNvPicPr>
          <p:nvPr/>
        </p:nvPicPr>
        <p:blipFill>
          <a:blip r:embed="rId3"/>
          <a:stretch>
            <a:fillRect/>
          </a:stretch>
        </p:blipFill>
        <p:spPr>
          <a:xfrm>
            <a:off x="6694714" y="1616075"/>
            <a:ext cx="4876800" cy="4876800"/>
          </a:xfrm>
          <a:prstGeom prst="rect">
            <a:avLst/>
          </a:prstGeom>
        </p:spPr>
      </p:pic>
    </p:spTree>
    <p:extLst>
      <p:ext uri="{BB962C8B-B14F-4D97-AF65-F5344CB8AC3E}">
        <p14:creationId xmlns:p14="http://schemas.microsoft.com/office/powerpoint/2010/main" val="2709080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F0928-388A-B3EE-12C8-6BBF2ED539B3}"/>
              </a:ext>
            </a:extLst>
          </p:cNvPr>
          <p:cNvSpPr>
            <a:spLocks noGrp="1"/>
          </p:cNvSpPr>
          <p:nvPr>
            <p:ph type="title"/>
          </p:nvPr>
        </p:nvSpPr>
        <p:spPr/>
        <p:txBody>
          <a:bodyPr/>
          <a:lstStyle/>
          <a:p>
            <a:r>
              <a:rPr lang="en-US" b="1" dirty="0"/>
              <a:t>Conclusion </a:t>
            </a:r>
            <a:endParaRPr lang="en-GB" b="1" dirty="0"/>
          </a:p>
        </p:txBody>
      </p:sp>
      <p:sp>
        <p:nvSpPr>
          <p:cNvPr id="3" name="Content Placeholder 2">
            <a:extLst>
              <a:ext uri="{FF2B5EF4-FFF2-40B4-BE49-F238E27FC236}">
                <a16:creationId xmlns:a16="http://schemas.microsoft.com/office/drawing/2014/main" id="{2560FB0D-C9BF-23A4-40C4-9EF123EFFE43}"/>
              </a:ext>
            </a:extLst>
          </p:cNvPr>
          <p:cNvSpPr>
            <a:spLocks noGrp="1"/>
          </p:cNvSpPr>
          <p:nvPr>
            <p:ph idx="1"/>
          </p:nvPr>
        </p:nvSpPr>
        <p:spPr/>
        <p:txBody>
          <a:bodyPr/>
          <a:lstStyle/>
          <a:p>
            <a:pPr marL="0" indent="0">
              <a:buNone/>
            </a:pPr>
            <a:r>
              <a:rPr lang="en-US" u="sng" dirty="0"/>
              <a:t>Temperature Control System</a:t>
            </a:r>
          </a:p>
          <a:p>
            <a:r>
              <a:rPr lang="en-US" sz="2000" b="1" dirty="0"/>
              <a:t>Linearity in Direct Mapping  </a:t>
            </a:r>
            <a:r>
              <a:rPr lang="en-US" sz="2000" dirty="0"/>
              <a:t>- from analog pin sensor reading signal to the actual liquid temperature</a:t>
            </a:r>
          </a:p>
          <a:p>
            <a:r>
              <a:rPr lang="en-US" sz="2000" b="1" dirty="0"/>
              <a:t>Precise Control </a:t>
            </a:r>
            <a:r>
              <a:rPr lang="en-US" sz="2000" dirty="0"/>
              <a:t>– setpoint interval of 0.5 °C, and less than ±0.3 °C error bar</a:t>
            </a:r>
          </a:p>
          <a:p>
            <a:r>
              <a:rPr lang="en-US" sz="2000" b="1" dirty="0"/>
              <a:t>High Temperature Reading Resolution Design </a:t>
            </a:r>
            <a:r>
              <a:rPr lang="en-US" sz="2000" dirty="0"/>
              <a:t>– subtract the offset and amplify the signal, however, still need to work on </a:t>
            </a:r>
            <a:r>
              <a:rPr lang="en-US" sz="2000" b="1" dirty="0">
                <a:solidFill>
                  <a:srgbClr val="00B050"/>
                </a:solidFill>
              </a:rPr>
              <a:t>unwanted fluctuation/noises</a:t>
            </a:r>
          </a:p>
          <a:p>
            <a:r>
              <a:rPr lang="en-US" sz="2000" b="1" dirty="0">
                <a:solidFill>
                  <a:srgbClr val="00B050"/>
                </a:solidFill>
              </a:rPr>
              <a:t>Regular re-mapping </a:t>
            </a:r>
            <a:r>
              <a:rPr lang="en-US" sz="2000" dirty="0"/>
              <a:t>is required because of the weak mechanical connection and external environment </a:t>
            </a:r>
          </a:p>
          <a:p>
            <a:pPr marL="0" indent="0">
              <a:buNone/>
            </a:pPr>
            <a:r>
              <a:rPr lang="en-US" sz="2400" u="sng" dirty="0"/>
              <a:t>Calcium Dynamics</a:t>
            </a:r>
          </a:p>
          <a:p>
            <a:r>
              <a:rPr lang="en-US" sz="2000" dirty="0"/>
              <a:t>Expecting signal in new organoid slices, representing the early developmental dynamics </a:t>
            </a:r>
          </a:p>
          <a:p>
            <a:r>
              <a:rPr lang="en-US" sz="2000" dirty="0"/>
              <a:t>Expecting variation in firing rate and the signal intensity under temperature regulation</a:t>
            </a:r>
          </a:p>
          <a:p>
            <a:endParaRPr lang="en-US" dirty="0"/>
          </a:p>
        </p:txBody>
      </p:sp>
    </p:spTree>
    <p:extLst>
      <p:ext uri="{BB962C8B-B14F-4D97-AF65-F5344CB8AC3E}">
        <p14:creationId xmlns:p14="http://schemas.microsoft.com/office/powerpoint/2010/main" val="1197183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9C562-2BBD-279B-A01C-3A2F1503E6DA}"/>
              </a:ext>
            </a:extLst>
          </p:cNvPr>
          <p:cNvSpPr>
            <a:spLocks noGrp="1"/>
          </p:cNvSpPr>
          <p:nvPr>
            <p:ph type="title"/>
          </p:nvPr>
        </p:nvSpPr>
        <p:spPr/>
        <p:txBody>
          <a:bodyPr/>
          <a:lstStyle/>
          <a:p>
            <a:r>
              <a:rPr lang="en-US" b="1" dirty="0"/>
              <a:t>Discussion</a:t>
            </a:r>
            <a:r>
              <a:rPr lang="en-US" dirty="0"/>
              <a:t> </a:t>
            </a:r>
            <a:endParaRPr lang="en-GB" dirty="0"/>
          </a:p>
        </p:txBody>
      </p:sp>
      <p:sp>
        <p:nvSpPr>
          <p:cNvPr id="3" name="Content Placeholder 2">
            <a:extLst>
              <a:ext uri="{FF2B5EF4-FFF2-40B4-BE49-F238E27FC236}">
                <a16:creationId xmlns:a16="http://schemas.microsoft.com/office/drawing/2014/main" id="{AC5F8B55-E042-4D15-7FFC-221ECA23BBBE}"/>
              </a:ext>
            </a:extLst>
          </p:cNvPr>
          <p:cNvSpPr>
            <a:spLocks noGrp="1"/>
          </p:cNvSpPr>
          <p:nvPr>
            <p:ph idx="1"/>
          </p:nvPr>
        </p:nvSpPr>
        <p:spPr/>
        <p:txBody>
          <a:bodyPr>
            <a:normAutofit/>
          </a:bodyPr>
          <a:lstStyle/>
          <a:p>
            <a:pPr marL="0" indent="0">
              <a:buNone/>
            </a:pPr>
            <a:r>
              <a:rPr lang="en-US" u="sng" dirty="0"/>
              <a:t>Demonstrate the potential and pros of brain organoid model for neuroscience study</a:t>
            </a:r>
          </a:p>
          <a:p>
            <a:pPr>
              <a:buFont typeface="Wingdings" panose="05000000000000000000" pitchFamily="2" charset="2"/>
              <a:buChar char="Ø"/>
            </a:pPr>
            <a:r>
              <a:rPr lang="en-US" dirty="0"/>
              <a:t>Determine the developmental dynamics and maturation (i.e. synchronized oscillatory network [2]) in the samples</a:t>
            </a:r>
          </a:p>
          <a:p>
            <a:pPr>
              <a:buFont typeface="Wingdings" panose="05000000000000000000" pitchFamily="2" charset="2"/>
              <a:buChar char="Ø"/>
            </a:pPr>
            <a:r>
              <a:rPr lang="en-US" dirty="0"/>
              <a:t>Then, the significant of temperature regulation during imaging on the calcium dynamics</a:t>
            </a:r>
          </a:p>
          <a:p>
            <a:pPr>
              <a:buFont typeface="Wingdings" panose="05000000000000000000" pitchFamily="2" charset="2"/>
              <a:buChar char="Ø"/>
            </a:pPr>
            <a:r>
              <a:rPr lang="en-US" dirty="0"/>
              <a:t>Evidence with in vivo temperature manipulation [3], at certain region in the brain</a:t>
            </a:r>
          </a:p>
        </p:txBody>
      </p:sp>
    </p:spTree>
    <p:extLst>
      <p:ext uri="{BB962C8B-B14F-4D97-AF65-F5344CB8AC3E}">
        <p14:creationId xmlns:p14="http://schemas.microsoft.com/office/powerpoint/2010/main" val="2166226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B63BC-4AF3-9B46-E8BB-EB1D7F2C5038}"/>
              </a:ext>
            </a:extLst>
          </p:cNvPr>
          <p:cNvSpPr>
            <a:spLocks noGrp="1"/>
          </p:cNvSpPr>
          <p:nvPr>
            <p:ph type="title"/>
          </p:nvPr>
        </p:nvSpPr>
        <p:spPr/>
        <p:txBody>
          <a:bodyPr/>
          <a:lstStyle/>
          <a:p>
            <a:r>
              <a:rPr lang="en-US" b="1" dirty="0"/>
              <a:t>Acknowledgements</a:t>
            </a:r>
            <a:endParaRPr lang="en-GB" b="1" dirty="0"/>
          </a:p>
        </p:txBody>
      </p:sp>
      <p:sp>
        <p:nvSpPr>
          <p:cNvPr id="3" name="Content Placeholder 2">
            <a:extLst>
              <a:ext uri="{FF2B5EF4-FFF2-40B4-BE49-F238E27FC236}">
                <a16:creationId xmlns:a16="http://schemas.microsoft.com/office/drawing/2014/main" id="{BD05152C-4319-921C-8766-C13150D23ACC}"/>
              </a:ext>
            </a:extLst>
          </p:cNvPr>
          <p:cNvSpPr>
            <a:spLocks noGrp="1"/>
          </p:cNvSpPr>
          <p:nvPr>
            <p:ph idx="1"/>
          </p:nvPr>
        </p:nvSpPr>
        <p:spPr/>
        <p:txBody>
          <a:bodyPr>
            <a:normAutofit fontScale="92500" lnSpcReduction="10000"/>
          </a:bodyPr>
          <a:lstStyle/>
          <a:p>
            <a:pPr marL="0" indent="0">
              <a:buNone/>
            </a:pPr>
            <a:r>
              <a:rPr lang="en-US" b="0" i="0" dirty="0">
                <a:solidFill>
                  <a:srgbClr val="040C28"/>
                </a:solidFill>
                <a:effectLst/>
                <a:latin typeface="Google Sans"/>
              </a:rPr>
              <a:t>I am grateful to all of those with whom I have had the pleasure to work during this project. </a:t>
            </a:r>
            <a:endParaRPr lang="en-US" dirty="0"/>
          </a:p>
          <a:p>
            <a:pPr marL="0" indent="0">
              <a:buNone/>
            </a:pPr>
            <a:r>
              <a:rPr lang="en-US" dirty="0"/>
              <a:t>My supervisors in the lab, </a:t>
            </a:r>
            <a:r>
              <a:rPr lang="en-US" b="1" dirty="0"/>
              <a:t>Prof. Schulz</a:t>
            </a:r>
            <a:r>
              <a:rPr lang="en-US" dirty="0"/>
              <a:t>, </a:t>
            </a:r>
            <a:r>
              <a:rPr lang="en-US" b="1" dirty="0"/>
              <a:t>Nawal</a:t>
            </a:r>
            <a:r>
              <a:rPr lang="en-US" dirty="0"/>
              <a:t> and </a:t>
            </a:r>
            <a:r>
              <a:rPr lang="en-US" b="1" dirty="0"/>
              <a:t>Elena</a:t>
            </a:r>
            <a:r>
              <a:rPr lang="en-US" dirty="0"/>
              <a:t> for the professional guidance on the project and technical support in the lab</a:t>
            </a:r>
          </a:p>
          <a:p>
            <a:pPr marL="0" indent="0">
              <a:buNone/>
            </a:pPr>
            <a:r>
              <a:rPr lang="en-US" dirty="0"/>
              <a:t>Electronics lab technicians </a:t>
            </a:r>
            <a:r>
              <a:rPr lang="en-US" b="1" dirty="0"/>
              <a:t>Paschal</a:t>
            </a:r>
            <a:r>
              <a:rPr lang="en-US" dirty="0"/>
              <a:t> and </a:t>
            </a:r>
            <a:r>
              <a:rPr lang="en-US" b="1" dirty="0"/>
              <a:t>Tariq</a:t>
            </a:r>
            <a:r>
              <a:rPr lang="en-US" dirty="0"/>
              <a:t>, for advice on the system design and grant for electronic materials in this project</a:t>
            </a:r>
          </a:p>
          <a:p>
            <a:pPr marL="0" indent="0">
              <a:buNone/>
            </a:pPr>
            <a:r>
              <a:rPr lang="en-US" dirty="0"/>
              <a:t>Mechanical lab technicians, </a:t>
            </a:r>
            <a:r>
              <a:rPr lang="en-US" b="1" dirty="0"/>
              <a:t>John</a:t>
            </a:r>
            <a:r>
              <a:rPr lang="en-US" dirty="0"/>
              <a:t> and </a:t>
            </a:r>
            <a:r>
              <a:rPr lang="en-US" b="1" dirty="0"/>
              <a:t>Hamidreza</a:t>
            </a:r>
            <a:r>
              <a:rPr lang="en-US" dirty="0"/>
              <a:t> for advice on chamber design and the manufacturing work of the chamber</a:t>
            </a:r>
          </a:p>
          <a:p>
            <a:pPr marL="0" indent="0">
              <a:buNone/>
            </a:pPr>
            <a:r>
              <a:rPr lang="en-US" dirty="0"/>
              <a:t>And my teammates, </a:t>
            </a:r>
            <a:r>
              <a:rPr lang="en-US" b="1" dirty="0"/>
              <a:t>Dilara</a:t>
            </a:r>
            <a:r>
              <a:rPr lang="en-US" dirty="0"/>
              <a:t> and </a:t>
            </a:r>
            <a:r>
              <a:rPr lang="en-US" b="1" dirty="0"/>
              <a:t>Julia</a:t>
            </a:r>
            <a:r>
              <a:rPr lang="en-US" dirty="0"/>
              <a:t>, for their excellent work on growing our own organoids in the lab and manage all the works accompanied with organoid culture. </a:t>
            </a:r>
          </a:p>
          <a:p>
            <a:pPr marL="0" indent="0">
              <a:buNone/>
            </a:pPr>
            <a:endParaRPr lang="en-GB" dirty="0"/>
          </a:p>
        </p:txBody>
      </p:sp>
    </p:spTree>
    <p:extLst>
      <p:ext uri="{BB962C8B-B14F-4D97-AF65-F5344CB8AC3E}">
        <p14:creationId xmlns:p14="http://schemas.microsoft.com/office/powerpoint/2010/main" val="205300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B02C-D306-33B1-436B-49ECBF6D9B85}"/>
              </a:ext>
            </a:extLst>
          </p:cNvPr>
          <p:cNvSpPr>
            <a:spLocks noGrp="1"/>
          </p:cNvSpPr>
          <p:nvPr>
            <p:ph type="title"/>
          </p:nvPr>
        </p:nvSpPr>
        <p:spPr/>
        <p:txBody>
          <a:bodyPr/>
          <a:lstStyle/>
          <a:p>
            <a:r>
              <a:rPr lang="en-US" b="1" dirty="0"/>
              <a:t>Reference</a:t>
            </a:r>
            <a:endParaRPr lang="en-GB" b="1" dirty="0"/>
          </a:p>
        </p:txBody>
      </p:sp>
      <p:sp>
        <p:nvSpPr>
          <p:cNvPr id="3" name="Content Placeholder 2">
            <a:extLst>
              <a:ext uri="{FF2B5EF4-FFF2-40B4-BE49-F238E27FC236}">
                <a16:creationId xmlns:a16="http://schemas.microsoft.com/office/drawing/2014/main" id="{6CB76816-AB35-0366-C4B2-6E17933338B9}"/>
              </a:ext>
            </a:extLst>
          </p:cNvPr>
          <p:cNvSpPr>
            <a:spLocks noGrp="1"/>
          </p:cNvSpPr>
          <p:nvPr>
            <p:ph idx="1"/>
          </p:nvPr>
        </p:nvSpPr>
        <p:spPr/>
        <p:txBody>
          <a:bodyPr/>
          <a:lstStyle/>
          <a:p>
            <a:pPr marL="114300" marR="0" indent="-342900">
              <a:lnSpc>
                <a:spcPct val="107000"/>
              </a:lnSpc>
              <a:spcBef>
                <a:spcPts val="0"/>
              </a:spcBef>
              <a:spcAft>
                <a:spcPts val="800"/>
              </a:spcAft>
              <a:buFont typeface="+mj-lt"/>
              <a:buAutoNum type="arabicPeriod"/>
            </a:pPr>
            <a:r>
              <a:rPr lang="en-GB" sz="1800" kern="100" dirty="0" err="1">
                <a:effectLst/>
                <a:latin typeface="Calibri" panose="020F0502020204030204" pitchFamily="34" charset="0"/>
                <a:ea typeface="DengXian" panose="02010600030101010101" pitchFamily="2" charset="-122"/>
                <a:cs typeface="Calibri" panose="020F0502020204030204" pitchFamily="34" charset="0"/>
              </a:rPr>
              <a:t>ripotent</a:t>
            </a:r>
            <a:r>
              <a:rPr lang="en-GB" sz="1800" kern="100" dirty="0">
                <a:effectLst/>
                <a:latin typeface="Calibri" panose="020F0502020204030204" pitchFamily="34" charset="0"/>
                <a:ea typeface="DengXian" panose="02010600030101010101" pitchFamily="2" charset="-122"/>
                <a:cs typeface="Calibri" panose="020F0502020204030204" pitchFamily="34" charset="0"/>
              </a:rPr>
              <a:t> stem cells </a:t>
            </a:r>
            <a:r>
              <a:rPr lang="en-GB" sz="1800" i="1" kern="100" dirty="0">
                <a:effectLst/>
                <a:latin typeface="Calibri" panose="020F0502020204030204" pitchFamily="34" charset="0"/>
                <a:ea typeface="DengXian" panose="02010600030101010101" pitchFamily="2" charset="-122"/>
                <a:cs typeface="Calibri" panose="020F0502020204030204" pitchFamily="34" charset="0"/>
              </a:rPr>
              <a:t>in vitro</a:t>
            </a:r>
            <a:r>
              <a:rPr lang="en-GB" sz="1800" kern="100" dirty="0">
                <a:effectLst/>
                <a:latin typeface="Calibri" panose="020F0502020204030204" pitchFamily="34" charset="0"/>
                <a:ea typeface="DengXian" panose="02010600030101010101" pitchFamily="2" charset="-122"/>
                <a:cs typeface="Calibri" panose="020F0502020204030204" pitchFamily="34" charset="0"/>
              </a:rPr>
              <a:t>’, </a:t>
            </a:r>
            <a:r>
              <a:rPr lang="en-GB" sz="1800" i="1" kern="100" dirty="0">
                <a:effectLst/>
                <a:latin typeface="Calibri" panose="020F0502020204030204" pitchFamily="34" charset="0"/>
                <a:ea typeface="DengXian" panose="02010600030101010101" pitchFamily="2" charset="-122"/>
                <a:cs typeface="Calibri" panose="020F0502020204030204" pitchFamily="34" charset="0"/>
              </a:rPr>
              <a:t>Development</a:t>
            </a:r>
            <a:r>
              <a:rPr lang="en-GB" sz="1800" kern="100" dirty="0">
                <a:effectLst/>
                <a:latin typeface="Calibri" panose="020F0502020204030204" pitchFamily="34" charset="0"/>
                <a:ea typeface="DengXian" panose="02010600030101010101" pitchFamily="2" charset="-122"/>
                <a:cs typeface="Calibri" panose="020F0502020204030204" pitchFamily="34" charset="0"/>
              </a:rPr>
              <a:t>, 142(18), pp. 3178–3187. Available at: https://doi.org/10.1242/dev.123851.</a:t>
            </a:r>
            <a:endParaRPr lang="en-GB"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114300" marR="0" indent="-342900">
              <a:lnSpc>
                <a:spcPct val="107000"/>
              </a:lnSpc>
              <a:spcBef>
                <a:spcPts val="0"/>
              </a:spcBef>
              <a:spcAft>
                <a:spcPts val="800"/>
              </a:spcAft>
              <a:buFont typeface="+mj-lt"/>
              <a:buAutoNum type="arabicPeriod"/>
            </a:pPr>
            <a:r>
              <a:rPr lang="en-GB" sz="1800" kern="100" dirty="0">
                <a:effectLst/>
                <a:latin typeface="Calibri" panose="020F0502020204030204" pitchFamily="34" charset="0"/>
                <a:ea typeface="DengXian" panose="02010600030101010101" pitchFamily="2" charset="-122"/>
                <a:cs typeface="Calibri" panose="020F0502020204030204" pitchFamily="34" charset="0"/>
              </a:rPr>
              <a:t>Lancaster, M.A. </a:t>
            </a:r>
            <a:r>
              <a:rPr lang="en-GB" sz="1800" i="1" kern="100" dirty="0">
                <a:effectLst/>
                <a:latin typeface="Calibri" panose="020F0502020204030204" pitchFamily="34" charset="0"/>
                <a:ea typeface="DengXian" panose="02010600030101010101" pitchFamily="2" charset="-122"/>
                <a:cs typeface="Calibri" panose="020F0502020204030204" pitchFamily="34" charset="0"/>
              </a:rPr>
              <a:t>et al.</a:t>
            </a:r>
            <a:r>
              <a:rPr lang="en-GB" sz="1800" kern="100" dirty="0">
                <a:effectLst/>
                <a:latin typeface="Calibri" panose="020F0502020204030204" pitchFamily="34" charset="0"/>
                <a:ea typeface="DengXian" panose="02010600030101010101" pitchFamily="2" charset="-122"/>
                <a:cs typeface="Calibri" panose="020F0502020204030204" pitchFamily="34" charset="0"/>
              </a:rPr>
              <a:t> (2013) ‘Cerebral organoids model human brain development and microcephaly’, </a:t>
            </a:r>
            <a:r>
              <a:rPr lang="en-GB" sz="1800" i="1" kern="100" dirty="0">
                <a:effectLst/>
                <a:latin typeface="Calibri" panose="020F0502020204030204" pitchFamily="34" charset="0"/>
                <a:ea typeface="DengXian" panose="02010600030101010101" pitchFamily="2" charset="-122"/>
                <a:cs typeface="Calibri" panose="020F0502020204030204" pitchFamily="34" charset="0"/>
              </a:rPr>
              <a:t>Nature</a:t>
            </a:r>
            <a:r>
              <a:rPr lang="en-GB" sz="1800" kern="100" dirty="0">
                <a:effectLst/>
                <a:latin typeface="Calibri" panose="020F0502020204030204" pitchFamily="34" charset="0"/>
                <a:ea typeface="DengXian" panose="02010600030101010101" pitchFamily="2" charset="-122"/>
                <a:cs typeface="Calibri" panose="020F0502020204030204" pitchFamily="34" charset="0"/>
              </a:rPr>
              <a:t>, 501(7467), pp. 373–379. Available at: https://doi.org/10.1038/nature12517.</a:t>
            </a:r>
            <a:endParaRPr lang="en-GB"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114300" marR="0" indent="-342900">
              <a:lnSpc>
                <a:spcPct val="107000"/>
              </a:lnSpc>
              <a:spcBef>
                <a:spcPts val="0"/>
              </a:spcBef>
              <a:spcAft>
                <a:spcPts val="800"/>
              </a:spcAft>
              <a:buFont typeface="+mj-lt"/>
              <a:buAutoNum type="arabicPeriod"/>
            </a:pPr>
            <a:r>
              <a:rPr lang="en-GB" sz="1800" kern="100" dirty="0">
                <a:effectLst/>
                <a:latin typeface="Calibri" panose="020F0502020204030204" pitchFamily="34" charset="0"/>
                <a:ea typeface="DengXian" panose="02010600030101010101" pitchFamily="2" charset="-122"/>
                <a:cs typeface="Calibri" panose="020F0502020204030204" pitchFamily="34" charset="0"/>
              </a:rPr>
              <a:t>Monteiro, T. </a:t>
            </a:r>
            <a:r>
              <a:rPr lang="en-GB" sz="1800" i="1" kern="100" dirty="0">
                <a:effectLst/>
                <a:latin typeface="Calibri" panose="020F0502020204030204" pitchFamily="34" charset="0"/>
                <a:ea typeface="DengXian" panose="02010600030101010101" pitchFamily="2" charset="-122"/>
                <a:cs typeface="Calibri" panose="020F0502020204030204" pitchFamily="34" charset="0"/>
              </a:rPr>
              <a:t>et al.</a:t>
            </a:r>
            <a:r>
              <a:rPr lang="en-GB" sz="1800" kern="100" dirty="0">
                <a:effectLst/>
                <a:latin typeface="Calibri" panose="020F0502020204030204" pitchFamily="34" charset="0"/>
                <a:ea typeface="DengXian" panose="02010600030101010101" pitchFamily="2" charset="-122"/>
                <a:cs typeface="Calibri" panose="020F0502020204030204" pitchFamily="34" charset="0"/>
              </a:rPr>
              <a:t> (2023) ‘Using temperature to </a:t>
            </a:r>
            <a:r>
              <a:rPr lang="en-GB" sz="1800" kern="100" dirty="0" err="1">
                <a:effectLst/>
                <a:latin typeface="Calibri" panose="020F0502020204030204" pitchFamily="34" charset="0"/>
                <a:ea typeface="DengXian" panose="02010600030101010101" pitchFamily="2" charset="-122"/>
                <a:cs typeface="Calibri" panose="020F0502020204030204" pitchFamily="34" charset="0"/>
              </a:rPr>
              <a:t>analyze</a:t>
            </a:r>
            <a:r>
              <a:rPr lang="en-GB" sz="1800" kern="100" dirty="0">
                <a:effectLst/>
                <a:latin typeface="Calibri" panose="020F0502020204030204" pitchFamily="34" charset="0"/>
                <a:ea typeface="DengXian" panose="02010600030101010101" pitchFamily="2" charset="-122"/>
                <a:cs typeface="Calibri" panose="020F0502020204030204" pitchFamily="34" charset="0"/>
              </a:rPr>
              <a:t> the neural basis of a time-based decision’, </a:t>
            </a:r>
            <a:r>
              <a:rPr lang="en-GB" sz="1800" i="1" kern="100" dirty="0">
                <a:effectLst/>
                <a:latin typeface="Calibri" panose="020F0502020204030204" pitchFamily="34" charset="0"/>
                <a:ea typeface="DengXian" panose="02010600030101010101" pitchFamily="2" charset="-122"/>
                <a:cs typeface="Calibri" panose="020F0502020204030204" pitchFamily="34" charset="0"/>
              </a:rPr>
              <a:t>Nature Neuroscience</a:t>
            </a:r>
            <a:r>
              <a:rPr lang="en-GB" sz="1800" kern="100" dirty="0">
                <a:effectLst/>
                <a:latin typeface="Calibri" panose="020F0502020204030204" pitchFamily="34" charset="0"/>
                <a:ea typeface="DengXian" panose="02010600030101010101" pitchFamily="2" charset="-122"/>
                <a:cs typeface="Calibri" panose="020F0502020204030204" pitchFamily="34" charset="0"/>
              </a:rPr>
              <a:t>, 26(8), pp. 1407–1416. Available at: https://doi.org/10.1038/s41593-023-01378-5.</a:t>
            </a:r>
            <a:endParaRPr lang="en-GB"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2010718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23F600-6ABA-0194-DF1F-4215D0562586}"/>
              </a:ext>
            </a:extLst>
          </p:cNvPr>
          <p:cNvSpPr txBox="1"/>
          <p:nvPr/>
        </p:nvSpPr>
        <p:spPr>
          <a:xfrm>
            <a:off x="1906742" y="2763120"/>
            <a:ext cx="7699248" cy="923330"/>
          </a:xfrm>
          <a:prstGeom prst="rect">
            <a:avLst/>
          </a:prstGeom>
          <a:noFill/>
        </p:spPr>
        <p:txBody>
          <a:bodyPr wrap="square" rtlCol="0">
            <a:spAutoFit/>
          </a:bodyPr>
          <a:lstStyle/>
          <a:p>
            <a:pPr algn="ctr"/>
            <a:r>
              <a:rPr lang="en-US" sz="5400" b="1" dirty="0">
                <a:latin typeface="Times New Roman" panose="02020603050405020304" pitchFamily="18" charset="0"/>
                <a:cs typeface="Times New Roman" panose="02020603050405020304" pitchFamily="18" charset="0"/>
              </a:rPr>
              <a:t>THANK YOU</a:t>
            </a:r>
            <a:endParaRPr lang="en-GB"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798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0</TotalTime>
  <Words>1843</Words>
  <Application>Microsoft Office PowerPoint</Application>
  <PresentationFormat>Widescreen</PresentationFormat>
  <Paragraphs>196</Paragraphs>
  <Slides>20</Slides>
  <Notes>17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Google Sans</vt:lpstr>
      <vt:lpstr>Harding</vt:lpstr>
      <vt:lpstr>Arial</vt:lpstr>
      <vt:lpstr>Calibri</vt:lpstr>
      <vt:lpstr>Calibri Light</vt:lpstr>
      <vt:lpstr>Times New Roman</vt:lpstr>
      <vt:lpstr>Wingdings</vt:lpstr>
      <vt:lpstr>Office Theme</vt:lpstr>
      <vt:lpstr>Tracking changes in brain organoid spontaneous activity over maturation</vt:lpstr>
      <vt:lpstr>Study Model: Organoid vs. Brain</vt:lpstr>
      <vt:lpstr>Objectives</vt:lpstr>
      <vt:lpstr>Fine Temperature Control</vt:lpstr>
      <vt:lpstr>Feedback Control System</vt:lpstr>
      <vt:lpstr>Circuit Design</vt:lpstr>
      <vt:lpstr>Coding</vt:lpstr>
      <vt:lpstr>Prototype and Setup</vt:lpstr>
      <vt:lpstr>Prototype and Setup</vt:lpstr>
      <vt:lpstr>Temperature Mapping</vt:lpstr>
      <vt:lpstr>Temperature Mapping</vt:lpstr>
      <vt:lpstr>Temperature Control Performance</vt:lpstr>
      <vt:lpstr>Resolution Improvement</vt:lpstr>
      <vt:lpstr>Resolution Improvement</vt:lpstr>
      <vt:lpstr>Organoid Calcium Dynamics</vt:lpstr>
      <vt:lpstr>Conclusion </vt:lpstr>
      <vt:lpstr>Discussion </vt:lpstr>
      <vt:lpstr>Acknowledgements</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Tracking changes in brain organoid spontaneous activity over maturation</dc:title>
  <dc:creator>Chuqi Wang</dc:creator>
  <cp:lastModifiedBy>Chuqi Wang</cp:lastModifiedBy>
  <cp:revision>3</cp:revision>
  <dcterms:created xsi:type="dcterms:W3CDTF">2023-08-28T10:52:18Z</dcterms:created>
  <dcterms:modified xsi:type="dcterms:W3CDTF">2023-09-22T08:26:58Z</dcterms:modified>
</cp:coreProperties>
</file>